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8" r:id="rId2"/>
    <p:sldId id="256" r:id="rId3"/>
    <p:sldId id="257" r:id="rId4"/>
    <p:sldId id="272" r:id="rId5"/>
    <p:sldId id="271" r:id="rId6"/>
    <p:sldId id="270" r:id="rId7"/>
    <p:sldId id="269" r:id="rId8"/>
    <p:sldId id="268" r:id="rId9"/>
    <p:sldId id="273" r:id="rId10"/>
    <p:sldId id="274" r:id="rId11"/>
    <p:sldId id="275" r:id="rId12"/>
    <p:sldId id="276" r:id="rId13"/>
    <p:sldId id="277" r:id="rId14"/>
    <p:sldId id="278" r:id="rId15"/>
    <p:sldId id="27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8" d="100"/>
          <a:sy n="58" d="100"/>
        </p:scale>
        <p:origin x="988"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a4feade79026f1ad/Desktop/bbb.csv.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a4feade79026f1ad/Desktop/AAA.csv.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a4feade79026f1ad/Desktop/ddd.csv.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a4feade79026f1ad/Desktop/cc.csv.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a4feade79026f1ad/Desktop/cccC%5eM%5eM%5eM%5eM.csv.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GB"/>
              <a:t>RCB Season-wise Performance</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GB"/>
        </a:p>
      </c:txPr>
    </c:title>
    <c:autoTitleDeleted val="0"/>
    <c:plotArea>
      <c:layout/>
      <c:scatterChart>
        <c:scatterStyle val="lineMarker"/>
        <c:varyColors val="0"/>
        <c:ser>
          <c:idx val="0"/>
          <c:order val="0"/>
          <c:spPr>
            <a:ln w="22225" cap="rnd">
              <a:solidFill>
                <a:schemeClr val="accent1"/>
              </a:solidFill>
              <a:round/>
            </a:ln>
            <a:effectLst/>
          </c:spPr>
          <c:marker>
            <c:symbol val="diamond"/>
            <c:size val="6"/>
            <c:spPr>
              <a:solidFill>
                <a:schemeClr val="accent1"/>
              </a:solidFill>
              <a:ln w="9525">
                <a:solidFill>
                  <a:schemeClr val="accent1"/>
                </a:solidFill>
                <a:round/>
              </a:ln>
              <a:effectLst/>
            </c:spPr>
          </c:marker>
          <c:xVal>
            <c:strRef>
              <c:f>bbb!$A$2:$A$12</c:f>
              <c:strCache>
                <c:ptCount val="11"/>
                <c:pt idx="0">
                  <c:v>Player_Name</c:v>
                </c:pt>
                <c:pt idx="1">
                  <c:v>CH Gayle</c:v>
                </c:pt>
                <c:pt idx="2">
                  <c:v>SR Watson</c:v>
                </c:pt>
                <c:pt idx="3">
                  <c:v>MC Henriques</c:v>
                </c:pt>
                <c:pt idx="4">
                  <c:v>JH Kallis</c:v>
                </c:pt>
                <c:pt idx="5">
                  <c:v>RA Jadeja</c:v>
                </c:pt>
                <c:pt idx="6">
                  <c:v>STR Binny</c:v>
                </c:pt>
                <c:pt idx="7">
                  <c:v>A Mishra</c:v>
                </c:pt>
                <c:pt idx="8">
                  <c:v>NLTC Perera</c:v>
                </c:pt>
                <c:pt idx="9">
                  <c:v>JP Faulkner</c:v>
                </c:pt>
                <c:pt idx="10">
                  <c:v>MG Johnson</c:v>
                </c:pt>
              </c:strCache>
            </c:strRef>
          </c:xVal>
          <c:yVal>
            <c:numRef>
              <c:f>bbb!$B$2:$B$12</c:f>
              <c:numCache>
                <c:formatCode>General</c:formatCode>
                <c:ptCount val="11"/>
                <c:pt idx="0">
                  <c:v>0</c:v>
                </c:pt>
                <c:pt idx="1">
                  <c:v>56</c:v>
                </c:pt>
                <c:pt idx="2">
                  <c:v>45.5</c:v>
                </c:pt>
                <c:pt idx="3">
                  <c:v>44</c:v>
                </c:pt>
                <c:pt idx="4">
                  <c:v>22.14</c:v>
                </c:pt>
                <c:pt idx="5">
                  <c:v>19.670000000000002</c:v>
                </c:pt>
                <c:pt idx="6">
                  <c:v>17.13</c:v>
                </c:pt>
                <c:pt idx="7">
                  <c:v>16.600000000000001</c:v>
                </c:pt>
                <c:pt idx="8">
                  <c:v>15.14</c:v>
                </c:pt>
                <c:pt idx="9">
                  <c:v>11</c:v>
                </c:pt>
                <c:pt idx="10">
                  <c:v>11</c:v>
                </c:pt>
              </c:numCache>
            </c:numRef>
          </c:yVal>
          <c:smooth val="0"/>
          <c:extLst>
            <c:ext xmlns:c16="http://schemas.microsoft.com/office/drawing/2014/chart" uri="{C3380CC4-5D6E-409C-BE32-E72D297353CC}">
              <c16:uniqueId val="{00000000-9229-4DBC-A02A-E42ADE83FA71}"/>
            </c:ext>
          </c:extLst>
        </c:ser>
        <c:ser>
          <c:idx val="1"/>
          <c:order val="1"/>
          <c:spPr>
            <a:ln w="22225" cap="rnd">
              <a:solidFill>
                <a:schemeClr val="accent2"/>
              </a:solidFill>
              <a:round/>
            </a:ln>
            <a:effectLst/>
          </c:spPr>
          <c:marker>
            <c:symbol val="square"/>
            <c:size val="6"/>
            <c:spPr>
              <a:solidFill>
                <a:schemeClr val="accent2"/>
              </a:solidFill>
              <a:ln w="9525">
                <a:solidFill>
                  <a:schemeClr val="accent2"/>
                </a:solidFill>
                <a:round/>
              </a:ln>
              <a:effectLst/>
            </c:spPr>
          </c:marker>
          <c:xVal>
            <c:strRef>
              <c:f>bbb!$A$2:$A$12</c:f>
              <c:strCache>
                <c:ptCount val="11"/>
                <c:pt idx="0">
                  <c:v>Player_Name</c:v>
                </c:pt>
                <c:pt idx="1">
                  <c:v>CH Gayle</c:v>
                </c:pt>
                <c:pt idx="2">
                  <c:v>SR Watson</c:v>
                </c:pt>
                <c:pt idx="3">
                  <c:v>MC Henriques</c:v>
                </c:pt>
                <c:pt idx="4">
                  <c:v>JH Kallis</c:v>
                </c:pt>
                <c:pt idx="5">
                  <c:v>RA Jadeja</c:v>
                </c:pt>
                <c:pt idx="6">
                  <c:v>STR Binny</c:v>
                </c:pt>
                <c:pt idx="7">
                  <c:v>A Mishra</c:v>
                </c:pt>
                <c:pt idx="8">
                  <c:v>NLTC Perera</c:v>
                </c:pt>
                <c:pt idx="9">
                  <c:v>JP Faulkner</c:v>
                </c:pt>
                <c:pt idx="10">
                  <c:v>MG Johnson</c:v>
                </c:pt>
              </c:strCache>
            </c:strRef>
          </c:xVal>
          <c:yVal>
            <c:numRef>
              <c:f>bbb!$C$2:$C$12</c:f>
              <c:numCache>
                <c:formatCode>General</c:formatCode>
                <c:ptCount val="11"/>
                <c:pt idx="0">
                  <c:v>0</c:v>
                </c:pt>
                <c:pt idx="1">
                  <c:v>2</c:v>
                </c:pt>
                <c:pt idx="2">
                  <c:v>2</c:v>
                </c:pt>
                <c:pt idx="3">
                  <c:v>2</c:v>
                </c:pt>
                <c:pt idx="4">
                  <c:v>2.25</c:v>
                </c:pt>
                <c:pt idx="5">
                  <c:v>1.5</c:v>
                </c:pt>
                <c:pt idx="6">
                  <c:v>1.5</c:v>
                </c:pt>
                <c:pt idx="7">
                  <c:v>2.33</c:v>
                </c:pt>
                <c:pt idx="8">
                  <c:v>1.8</c:v>
                </c:pt>
                <c:pt idx="9">
                  <c:v>2.67</c:v>
                </c:pt>
                <c:pt idx="10">
                  <c:v>1.8</c:v>
                </c:pt>
              </c:numCache>
            </c:numRef>
          </c:yVal>
          <c:smooth val="0"/>
          <c:extLst>
            <c:ext xmlns:c16="http://schemas.microsoft.com/office/drawing/2014/chart" uri="{C3380CC4-5D6E-409C-BE32-E72D297353CC}">
              <c16:uniqueId val="{00000001-9229-4DBC-A02A-E42ADE83FA71}"/>
            </c:ext>
          </c:extLst>
        </c:ser>
        <c:ser>
          <c:idx val="2"/>
          <c:order val="2"/>
          <c:spPr>
            <a:ln w="22225" cap="rnd">
              <a:solidFill>
                <a:schemeClr val="accent3"/>
              </a:solidFill>
              <a:round/>
            </a:ln>
            <a:effectLst/>
          </c:spPr>
          <c:marker>
            <c:symbol val="triangle"/>
            <c:size val="6"/>
            <c:spPr>
              <a:solidFill>
                <a:schemeClr val="accent3"/>
              </a:solidFill>
              <a:ln w="9525">
                <a:solidFill>
                  <a:schemeClr val="accent3"/>
                </a:solidFill>
                <a:round/>
              </a:ln>
              <a:effectLst/>
            </c:spPr>
          </c:marker>
          <c:xVal>
            <c:strRef>
              <c:f>bbb!$A$2:$A$12</c:f>
              <c:strCache>
                <c:ptCount val="11"/>
                <c:pt idx="0">
                  <c:v>Player_Name</c:v>
                </c:pt>
                <c:pt idx="1">
                  <c:v>CH Gayle</c:v>
                </c:pt>
                <c:pt idx="2">
                  <c:v>SR Watson</c:v>
                </c:pt>
                <c:pt idx="3">
                  <c:v>MC Henriques</c:v>
                </c:pt>
                <c:pt idx="4">
                  <c:v>JH Kallis</c:v>
                </c:pt>
                <c:pt idx="5">
                  <c:v>RA Jadeja</c:v>
                </c:pt>
                <c:pt idx="6">
                  <c:v>STR Binny</c:v>
                </c:pt>
                <c:pt idx="7">
                  <c:v>A Mishra</c:v>
                </c:pt>
                <c:pt idx="8">
                  <c:v>NLTC Perera</c:v>
                </c:pt>
                <c:pt idx="9">
                  <c:v>JP Faulkner</c:v>
                </c:pt>
                <c:pt idx="10">
                  <c:v>MG Johnson</c:v>
                </c:pt>
              </c:strCache>
            </c:strRef>
          </c:xVal>
          <c:yVal>
            <c:numRef>
              <c:f>bbb!$D$2:$D$12</c:f>
              <c:numCache>
                <c:formatCode>General</c:formatCode>
                <c:ptCount val="11"/>
                <c:pt idx="0">
                  <c:v>0</c:v>
                </c:pt>
                <c:pt idx="1">
                  <c:v>10.06</c:v>
                </c:pt>
                <c:pt idx="2">
                  <c:v>10.06</c:v>
                </c:pt>
                <c:pt idx="3">
                  <c:v>10.06</c:v>
                </c:pt>
                <c:pt idx="4">
                  <c:v>10.06</c:v>
                </c:pt>
                <c:pt idx="5">
                  <c:v>10.06</c:v>
                </c:pt>
                <c:pt idx="6">
                  <c:v>10.06</c:v>
                </c:pt>
                <c:pt idx="7">
                  <c:v>10.06</c:v>
                </c:pt>
                <c:pt idx="8">
                  <c:v>10.06</c:v>
                </c:pt>
                <c:pt idx="9">
                  <c:v>10.06</c:v>
                </c:pt>
                <c:pt idx="10">
                  <c:v>10.06</c:v>
                </c:pt>
              </c:numCache>
            </c:numRef>
          </c:yVal>
          <c:smooth val="0"/>
          <c:extLst>
            <c:ext xmlns:c16="http://schemas.microsoft.com/office/drawing/2014/chart" uri="{C3380CC4-5D6E-409C-BE32-E72D297353CC}">
              <c16:uniqueId val="{00000002-9229-4DBC-A02A-E42ADE83FA71}"/>
            </c:ext>
          </c:extLst>
        </c:ser>
        <c:ser>
          <c:idx val="3"/>
          <c:order val="3"/>
          <c:spPr>
            <a:ln w="22225" cap="rnd">
              <a:solidFill>
                <a:schemeClr val="accent4"/>
              </a:solidFill>
              <a:round/>
            </a:ln>
            <a:effectLst/>
          </c:spPr>
          <c:marker>
            <c:symbol val="x"/>
            <c:size val="6"/>
            <c:spPr>
              <a:noFill/>
              <a:ln w="9525">
                <a:solidFill>
                  <a:schemeClr val="accent4"/>
                </a:solidFill>
                <a:round/>
              </a:ln>
              <a:effectLst/>
            </c:spPr>
          </c:marker>
          <c:xVal>
            <c:strRef>
              <c:f>bbb!$A$2:$A$12</c:f>
              <c:strCache>
                <c:ptCount val="11"/>
                <c:pt idx="0">
                  <c:v>Player_Name</c:v>
                </c:pt>
                <c:pt idx="1">
                  <c:v>CH Gayle</c:v>
                </c:pt>
                <c:pt idx="2">
                  <c:v>SR Watson</c:v>
                </c:pt>
                <c:pt idx="3">
                  <c:v>MC Henriques</c:v>
                </c:pt>
                <c:pt idx="4">
                  <c:v>JH Kallis</c:v>
                </c:pt>
                <c:pt idx="5">
                  <c:v>RA Jadeja</c:v>
                </c:pt>
                <c:pt idx="6">
                  <c:v>STR Binny</c:v>
                </c:pt>
                <c:pt idx="7">
                  <c:v>A Mishra</c:v>
                </c:pt>
                <c:pt idx="8">
                  <c:v>NLTC Perera</c:v>
                </c:pt>
                <c:pt idx="9">
                  <c:v>JP Faulkner</c:v>
                </c:pt>
                <c:pt idx="10">
                  <c:v>MG Johnson</c:v>
                </c:pt>
              </c:strCache>
            </c:strRef>
          </c:xVal>
          <c:yVal>
            <c:numRef>
              <c:f>bbb!$E$2:$E$12</c:f>
              <c:numCache>
                <c:formatCode>General</c:formatCode>
                <c:ptCount val="11"/>
                <c:pt idx="0">
                  <c:v>0</c:v>
                </c:pt>
                <c:pt idx="1">
                  <c:v>1.47</c:v>
                </c:pt>
                <c:pt idx="2">
                  <c:v>1.47</c:v>
                </c:pt>
                <c:pt idx="3">
                  <c:v>1.47</c:v>
                </c:pt>
                <c:pt idx="4">
                  <c:v>1.47</c:v>
                </c:pt>
                <c:pt idx="5">
                  <c:v>1.47</c:v>
                </c:pt>
                <c:pt idx="6">
                  <c:v>1.47</c:v>
                </c:pt>
                <c:pt idx="7">
                  <c:v>1.47</c:v>
                </c:pt>
                <c:pt idx="8">
                  <c:v>1.47</c:v>
                </c:pt>
                <c:pt idx="9">
                  <c:v>1.47</c:v>
                </c:pt>
                <c:pt idx="10">
                  <c:v>1.47</c:v>
                </c:pt>
              </c:numCache>
            </c:numRef>
          </c:yVal>
          <c:smooth val="0"/>
          <c:extLst>
            <c:ext xmlns:c16="http://schemas.microsoft.com/office/drawing/2014/chart" uri="{C3380CC4-5D6E-409C-BE32-E72D297353CC}">
              <c16:uniqueId val="{00000003-9229-4DBC-A02A-E42ADE83FA71}"/>
            </c:ext>
          </c:extLst>
        </c:ser>
        <c:ser>
          <c:idx val="4"/>
          <c:order val="4"/>
          <c:spPr>
            <a:ln w="22225" cap="rnd">
              <a:solidFill>
                <a:schemeClr val="accent5"/>
              </a:solidFill>
              <a:round/>
            </a:ln>
            <a:effectLst/>
          </c:spPr>
          <c:marker>
            <c:symbol val="star"/>
            <c:size val="6"/>
            <c:spPr>
              <a:noFill/>
              <a:ln w="9525">
                <a:solidFill>
                  <a:schemeClr val="accent5"/>
                </a:solidFill>
                <a:round/>
              </a:ln>
              <a:effectLst/>
            </c:spPr>
          </c:marker>
          <c:xVal>
            <c:strRef>
              <c:f>bbb!$A$2:$A$12</c:f>
              <c:strCache>
                <c:ptCount val="11"/>
                <c:pt idx="0">
                  <c:v>Player_Name</c:v>
                </c:pt>
                <c:pt idx="1">
                  <c:v>CH Gayle</c:v>
                </c:pt>
                <c:pt idx="2">
                  <c:v>SR Watson</c:v>
                </c:pt>
                <c:pt idx="3">
                  <c:v>MC Henriques</c:v>
                </c:pt>
                <c:pt idx="4">
                  <c:v>JH Kallis</c:v>
                </c:pt>
                <c:pt idx="5">
                  <c:v>RA Jadeja</c:v>
                </c:pt>
                <c:pt idx="6">
                  <c:v>STR Binny</c:v>
                </c:pt>
                <c:pt idx="7">
                  <c:v>A Mishra</c:v>
                </c:pt>
                <c:pt idx="8">
                  <c:v>NLTC Perera</c:v>
                </c:pt>
                <c:pt idx="9">
                  <c:v>JP Faulkner</c:v>
                </c:pt>
                <c:pt idx="10">
                  <c:v>MG Johnson</c:v>
                </c:pt>
              </c:strCache>
            </c:strRef>
          </c:xVal>
          <c:yVal>
            <c:numRef>
              <c:f>bbb!$F$2:$F$12</c:f>
              <c:numCache>
                <c:formatCode>General</c:formatCode>
                <c:ptCount val="11"/>
              </c:numCache>
            </c:numRef>
          </c:yVal>
          <c:smooth val="0"/>
          <c:extLst>
            <c:ext xmlns:c16="http://schemas.microsoft.com/office/drawing/2014/chart" uri="{C3380CC4-5D6E-409C-BE32-E72D297353CC}">
              <c16:uniqueId val="{00000004-9229-4DBC-A02A-E42ADE83FA71}"/>
            </c:ext>
          </c:extLst>
        </c:ser>
        <c:dLbls>
          <c:showLegendKey val="0"/>
          <c:showVal val="0"/>
          <c:showCatName val="0"/>
          <c:showSerName val="0"/>
          <c:showPercent val="0"/>
          <c:showBubbleSize val="0"/>
        </c:dLbls>
        <c:axId val="1126089936"/>
        <c:axId val="617394928"/>
      </c:scatterChart>
      <c:valAx>
        <c:axId val="112608993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GB"/>
                  <a:t>Season</a:t>
                </a:r>
              </a:p>
            </c:rich>
          </c:tx>
          <c:overlay val="0"/>
          <c:spPr>
            <a:noFill/>
            <a:ln>
              <a:noFill/>
            </a:ln>
            <a:effectLst/>
          </c:spPr>
          <c:txPr>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GB"/>
            </a:p>
          </c:txPr>
        </c:title>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17394928"/>
        <c:crosses val="autoZero"/>
        <c:crossBetween val="midCat"/>
      </c:valAx>
      <c:valAx>
        <c:axId val="61739492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GB"/>
                  <a:t>Performance / Count</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26089936"/>
        <c:crosses val="autoZero"/>
        <c:crossBetween val="midCat"/>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GB" dirty="0">
                <a:solidFill>
                  <a:schemeClr val="bg1"/>
                </a:solidFill>
              </a:rPr>
              <a:t>RCB Wins by Venue</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GB"/>
        </a:p>
      </c:txPr>
    </c:title>
    <c:autoTitleDeleted val="0"/>
    <c:plotArea>
      <c:layout/>
      <c:barChart>
        <c:barDir val="bar"/>
        <c:grouping val="stacked"/>
        <c:varyColors val="0"/>
        <c:ser>
          <c:idx val="0"/>
          <c:order val="0"/>
          <c:tx>
            <c:strRef>
              <c:f>AAA!$A$3</c:f>
              <c:strCache>
                <c:ptCount val="1"/>
                <c:pt idx="0">
                  <c:v>M Chinnaswamy Stadium</c:v>
                </c:pt>
              </c:strCache>
            </c:strRef>
          </c:tx>
          <c:spPr>
            <a:solidFill>
              <a:schemeClr val="accent2"/>
            </a:solidFill>
            <a:ln>
              <a:noFill/>
            </a:ln>
            <a:effectLst>
              <a:glow rad="1536700">
                <a:schemeClr val="bg1"/>
              </a:glow>
            </a:effectLst>
          </c:spPr>
          <c:invertIfNegative val="0"/>
          <c:dPt>
            <c:idx val="0"/>
            <c:invertIfNegative val="0"/>
            <c:bubble3D val="0"/>
            <c:extLst>
              <c:ext xmlns:c16="http://schemas.microsoft.com/office/drawing/2014/chart" uri="{C3380CC4-5D6E-409C-BE32-E72D297353CC}">
                <c16:uniqueId val="{00000001-BC9E-427D-A6F3-665F54E2E03B}"/>
              </c:ext>
            </c:extLst>
          </c:dPt>
          <c:dPt>
            <c:idx val="1"/>
            <c:invertIfNegative val="0"/>
            <c:bubble3D val="0"/>
            <c:extLst>
              <c:ext xmlns:c16="http://schemas.microsoft.com/office/drawing/2014/chart" uri="{C3380CC4-5D6E-409C-BE32-E72D297353CC}">
                <c16:uniqueId val="{00000003-BC9E-427D-A6F3-665F54E2E03B}"/>
              </c:ext>
            </c:extLst>
          </c:dPt>
          <c:dPt>
            <c:idx val="2"/>
            <c:invertIfNegative val="0"/>
            <c:bubble3D val="0"/>
            <c:extLst>
              <c:ext xmlns:c16="http://schemas.microsoft.com/office/drawing/2014/chart" uri="{C3380CC4-5D6E-409C-BE32-E72D297353CC}">
                <c16:uniqueId val="{00000005-BC9E-427D-A6F3-665F54E2E03B}"/>
              </c:ext>
            </c:extLst>
          </c:dPt>
          <c:dPt>
            <c:idx val="3"/>
            <c:invertIfNegative val="0"/>
            <c:bubble3D val="0"/>
            <c:extLst>
              <c:ext xmlns:c16="http://schemas.microsoft.com/office/drawing/2014/chart" uri="{C3380CC4-5D6E-409C-BE32-E72D297353CC}">
                <c16:uniqueId val="{00000007-BC9E-427D-A6F3-665F54E2E03B}"/>
              </c:ext>
            </c:extLst>
          </c:dPt>
          <c:dPt>
            <c:idx val="4"/>
            <c:invertIfNegative val="0"/>
            <c:bubble3D val="0"/>
            <c:extLst>
              <c:ext xmlns:c16="http://schemas.microsoft.com/office/drawing/2014/chart" uri="{C3380CC4-5D6E-409C-BE32-E72D297353CC}">
                <c16:uniqueId val="{00000009-BC9E-427D-A6F3-665F54E2E03B}"/>
              </c:ext>
            </c:extLst>
          </c:dPt>
          <c:dPt>
            <c:idx val="5"/>
            <c:invertIfNegative val="0"/>
            <c:bubble3D val="0"/>
            <c:extLst>
              <c:ext xmlns:c16="http://schemas.microsoft.com/office/drawing/2014/chart" uri="{C3380CC4-5D6E-409C-BE32-E72D297353CC}">
                <c16:uniqueId val="{0000000B-BC9E-427D-A6F3-665F54E2E03B}"/>
              </c:ext>
            </c:extLst>
          </c:dPt>
          <c:dPt>
            <c:idx val="6"/>
            <c:invertIfNegative val="0"/>
            <c:bubble3D val="0"/>
            <c:extLst>
              <c:ext xmlns:c16="http://schemas.microsoft.com/office/drawing/2014/chart" uri="{C3380CC4-5D6E-409C-BE32-E72D297353CC}">
                <c16:uniqueId val="{0000000D-BC9E-427D-A6F3-665F54E2E03B}"/>
              </c:ext>
            </c:extLst>
          </c:dPt>
          <c:dPt>
            <c:idx val="7"/>
            <c:invertIfNegative val="0"/>
            <c:bubble3D val="0"/>
            <c:extLst>
              <c:ext xmlns:c16="http://schemas.microsoft.com/office/drawing/2014/chart" uri="{C3380CC4-5D6E-409C-BE32-E72D297353CC}">
                <c16:uniqueId val="{0000000F-BC9E-427D-A6F3-665F54E2E03B}"/>
              </c:ext>
            </c:extLst>
          </c:dPt>
          <c:dPt>
            <c:idx val="8"/>
            <c:invertIfNegative val="0"/>
            <c:bubble3D val="0"/>
            <c:extLst>
              <c:ext xmlns:c16="http://schemas.microsoft.com/office/drawing/2014/chart" uri="{C3380CC4-5D6E-409C-BE32-E72D297353CC}">
                <c16:uniqueId val="{00000011-BC9E-427D-A6F3-665F54E2E03B}"/>
              </c:ext>
            </c:extLst>
          </c:dPt>
          <c:dPt>
            <c:idx val="9"/>
            <c:invertIfNegative val="0"/>
            <c:bubble3D val="0"/>
            <c:extLst>
              <c:ext xmlns:c16="http://schemas.microsoft.com/office/drawing/2014/chart" uri="{C3380CC4-5D6E-409C-BE32-E72D297353CC}">
                <c16:uniqueId val="{00000013-BC9E-427D-A6F3-665F54E2E03B}"/>
              </c:ext>
            </c:extLst>
          </c:dPt>
          <c:dPt>
            <c:idx val="10"/>
            <c:invertIfNegative val="0"/>
            <c:bubble3D val="0"/>
            <c:extLst>
              <c:ext xmlns:c16="http://schemas.microsoft.com/office/drawing/2014/chart" uri="{C3380CC4-5D6E-409C-BE32-E72D297353CC}">
                <c16:uniqueId val="{00000015-BC9E-427D-A6F3-665F54E2E03B}"/>
              </c:ext>
            </c:extLst>
          </c:dPt>
          <c:dPt>
            <c:idx val="11"/>
            <c:invertIfNegative val="0"/>
            <c:bubble3D val="0"/>
            <c:extLst>
              <c:ext xmlns:c16="http://schemas.microsoft.com/office/drawing/2014/chart" uri="{C3380CC4-5D6E-409C-BE32-E72D297353CC}">
                <c16:uniqueId val="{00000017-BC9E-427D-A6F3-665F54E2E03B}"/>
              </c:ext>
            </c:extLst>
          </c:dPt>
          <c:dPt>
            <c:idx val="12"/>
            <c:invertIfNegative val="0"/>
            <c:bubble3D val="0"/>
            <c:extLst>
              <c:ext xmlns:c16="http://schemas.microsoft.com/office/drawing/2014/chart" uri="{C3380CC4-5D6E-409C-BE32-E72D297353CC}">
                <c16:uniqueId val="{00000019-BC9E-427D-A6F3-665F54E2E03B}"/>
              </c:ext>
            </c:extLst>
          </c:dPt>
          <c:dPt>
            <c:idx val="13"/>
            <c:invertIfNegative val="0"/>
            <c:bubble3D val="0"/>
            <c:extLst>
              <c:ext xmlns:c16="http://schemas.microsoft.com/office/drawing/2014/chart" uri="{C3380CC4-5D6E-409C-BE32-E72D297353CC}">
                <c16:uniqueId val="{0000001B-BC9E-427D-A6F3-665F54E2E03B}"/>
              </c:ext>
            </c:extLst>
          </c:dPt>
          <c:dPt>
            <c:idx val="14"/>
            <c:invertIfNegative val="0"/>
            <c:bubble3D val="0"/>
            <c:extLst>
              <c:ext xmlns:c16="http://schemas.microsoft.com/office/drawing/2014/chart" uri="{C3380CC4-5D6E-409C-BE32-E72D297353CC}">
                <c16:uniqueId val="{0000001D-BC9E-427D-A6F3-665F54E2E03B}"/>
              </c:ext>
            </c:extLst>
          </c:dPt>
          <c:dPt>
            <c:idx val="15"/>
            <c:invertIfNegative val="0"/>
            <c:bubble3D val="0"/>
            <c:extLst>
              <c:ext xmlns:c16="http://schemas.microsoft.com/office/drawing/2014/chart" uri="{C3380CC4-5D6E-409C-BE32-E72D297353CC}">
                <c16:uniqueId val="{0000001F-BC9E-427D-A6F3-665F54E2E03B}"/>
              </c:ext>
            </c:extLst>
          </c:dPt>
          <c:dPt>
            <c:idx val="16"/>
            <c:invertIfNegative val="0"/>
            <c:bubble3D val="0"/>
            <c:extLst>
              <c:ext xmlns:c16="http://schemas.microsoft.com/office/drawing/2014/chart" uri="{C3380CC4-5D6E-409C-BE32-E72D297353CC}">
                <c16:uniqueId val="{00000021-BC9E-427D-A6F3-665F54E2E03B}"/>
              </c:ext>
            </c:extLst>
          </c:dPt>
          <c:dPt>
            <c:idx val="17"/>
            <c:invertIfNegative val="0"/>
            <c:bubble3D val="0"/>
            <c:extLst>
              <c:ext xmlns:c16="http://schemas.microsoft.com/office/drawing/2014/chart" uri="{C3380CC4-5D6E-409C-BE32-E72D297353CC}">
                <c16:uniqueId val="{00000023-BC9E-427D-A6F3-665F54E2E03B}"/>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AAA!$B$2:$D$2</c:f>
              <c:strCache>
                <c:ptCount val="3"/>
                <c:pt idx="0">
                  <c:v>Wins</c:v>
                </c:pt>
                <c:pt idx="1">
                  <c:v>Losses</c:v>
                </c:pt>
                <c:pt idx="2">
                  <c:v>Total_Matches</c:v>
                </c:pt>
              </c:strCache>
            </c:strRef>
          </c:cat>
          <c:val>
            <c:numRef>
              <c:f>AAA!$B$3:$D$3</c:f>
              <c:numCache>
                <c:formatCode>General</c:formatCode>
                <c:ptCount val="3"/>
                <c:pt idx="0">
                  <c:v>16</c:v>
                </c:pt>
                <c:pt idx="1">
                  <c:v>11</c:v>
                </c:pt>
                <c:pt idx="2">
                  <c:v>29</c:v>
                </c:pt>
              </c:numCache>
            </c:numRef>
          </c:val>
          <c:extLst>
            <c:ext xmlns:c16="http://schemas.microsoft.com/office/drawing/2014/chart" uri="{C3380CC4-5D6E-409C-BE32-E72D297353CC}">
              <c16:uniqueId val="{00000024-BC9E-427D-A6F3-665F54E2E03B}"/>
            </c:ext>
          </c:extLst>
        </c:ser>
        <c:ser>
          <c:idx val="1"/>
          <c:order val="1"/>
          <c:tx>
            <c:strRef>
              <c:f>AAA!$A$4</c:f>
              <c:strCache>
                <c:ptCount val="1"/>
                <c:pt idx="0">
                  <c:v>Rajiv Gandhi International Stadium, Uppal</c:v>
                </c:pt>
              </c:strCache>
            </c:strRef>
          </c:tx>
          <c:spPr>
            <a:solidFill>
              <a:schemeClr val="accent4"/>
            </a:solidFill>
            <a:ln>
              <a:noFill/>
            </a:ln>
            <a:effectLst/>
          </c:spPr>
          <c:invertIfNegative val="0"/>
          <c:dPt>
            <c:idx val="0"/>
            <c:invertIfNegative val="0"/>
            <c:bubble3D val="0"/>
            <c:extLst>
              <c:ext xmlns:c16="http://schemas.microsoft.com/office/drawing/2014/chart" uri="{C3380CC4-5D6E-409C-BE32-E72D297353CC}">
                <c16:uniqueId val="{00000026-BC9E-427D-A6F3-665F54E2E03B}"/>
              </c:ext>
            </c:extLst>
          </c:dPt>
          <c:dPt>
            <c:idx val="1"/>
            <c:invertIfNegative val="0"/>
            <c:bubble3D val="0"/>
            <c:extLst>
              <c:ext xmlns:c16="http://schemas.microsoft.com/office/drawing/2014/chart" uri="{C3380CC4-5D6E-409C-BE32-E72D297353CC}">
                <c16:uniqueId val="{00000028-BC9E-427D-A6F3-665F54E2E03B}"/>
              </c:ext>
            </c:extLst>
          </c:dPt>
          <c:dPt>
            <c:idx val="2"/>
            <c:invertIfNegative val="0"/>
            <c:bubble3D val="0"/>
            <c:extLst>
              <c:ext xmlns:c16="http://schemas.microsoft.com/office/drawing/2014/chart" uri="{C3380CC4-5D6E-409C-BE32-E72D297353CC}">
                <c16:uniqueId val="{0000002A-BC9E-427D-A6F3-665F54E2E03B}"/>
              </c:ext>
            </c:extLst>
          </c:dPt>
          <c:dPt>
            <c:idx val="3"/>
            <c:invertIfNegative val="0"/>
            <c:bubble3D val="0"/>
            <c:extLst>
              <c:ext xmlns:c16="http://schemas.microsoft.com/office/drawing/2014/chart" uri="{C3380CC4-5D6E-409C-BE32-E72D297353CC}">
                <c16:uniqueId val="{0000002C-BC9E-427D-A6F3-665F54E2E03B}"/>
              </c:ext>
            </c:extLst>
          </c:dPt>
          <c:dPt>
            <c:idx val="4"/>
            <c:invertIfNegative val="0"/>
            <c:bubble3D val="0"/>
            <c:extLst>
              <c:ext xmlns:c16="http://schemas.microsoft.com/office/drawing/2014/chart" uri="{C3380CC4-5D6E-409C-BE32-E72D297353CC}">
                <c16:uniqueId val="{0000002E-BC9E-427D-A6F3-665F54E2E03B}"/>
              </c:ext>
            </c:extLst>
          </c:dPt>
          <c:dPt>
            <c:idx val="5"/>
            <c:invertIfNegative val="0"/>
            <c:bubble3D val="0"/>
            <c:extLst>
              <c:ext xmlns:c16="http://schemas.microsoft.com/office/drawing/2014/chart" uri="{C3380CC4-5D6E-409C-BE32-E72D297353CC}">
                <c16:uniqueId val="{00000030-BC9E-427D-A6F3-665F54E2E03B}"/>
              </c:ext>
            </c:extLst>
          </c:dPt>
          <c:dPt>
            <c:idx val="6"/>
            <c:invertIfNegative val="0"/>
            <c:bubble3D val="0"/>
            <c:extLst>
              <c:ext xmlns:c16="http://schemas.microsoft.com/office/drawing/2014/chart" uri="{C3380CC4-5D6E-409C-BE32-E72D297353CC}">
                <c16:uniqueId val="{00000032-BC9E-427D-A6F3-665F54E2E03B}"/>
              </c:ext>
            </c:extLst>
          </c:dPt>
          <c:dPt>
            <c:idx val="7"/>
            <c:invertIfNegative val="0"/>
            <c:bubble3D val="0"/>
            <c:extLst>
              <c:ext xmlns:c16="http://schemas.microsoft.com/office/drawing/2014/chart" uri="{C3380CC4-5D6E-409C-BE32-E72D297353CC}">
                <c16:uniqueId val="{00000034-BC9E-427D-A6F3-665F54E2E03B}"/>
              </c:ext>
            </c:extLst>
          </c:dPt>
          <c:dPt>
            <c:idx val="8"/>
            <c:invertIfNegative val="0"/>
            <c:bubble3D val="0"/>
            <c:extLst>
              <c:ext xmlns:c16="http://schemas.microsoft.com/office/drawing/2014/chart" uri="{C3380CC4-5D6E-409C-BE32-E72D297353CC}">
                <c16:uniqueId val="{00000036-BC9E-427D-A6F3-665F54E2E03B}"/>
              </c:ext>
            </c:extLst>
          </c:dPt>
          <c:dPt>
            <c:idx val="9"/>
            <c:invertIfNegative val="0"/>
            <c:bubble3D val="0"/>
            <c:extLst>
              <c:ext xmlns:c16="http://schemas.microsoft.com/office/drawing/2014/chart" uri="{C3380CC4-5D6E-409C-BE32-E72D297353CC}">
                <c16:uniqueId val="{00000038-BC9E-427D-A6F3-665F54E2E03B}"/>
              </c:ext>
            </c:extLst>
          </c:dPt>
          <c:dPt>
            <c:idx val="10"/>
            <c:invertIfNegative val="0"/>
            <c:bubble3D val="0"/>
            <c:extLst>
              <c:ext xmlns:c16="http://schemas.microsoft.com/office/drawing/2014/chart" uri="{C3380CC4-5D6E-409C-BE32-E72D297353CC}">
                <c16:uniqueId val="{0000003A-BC9E-427D-A6F3-665F54E2E03B}"/>
              </c:ext>
            </c:extLst>
          </c:dPt>
          <c:dPt>
            <c:idx val="11"/>
            <c:invertIfNegative val="0"/>
            <c:bubble3D val="0"/>
            <c:extLst>
              <c:ext xmlns:c16="http://schemas.microsoft.com/office/drawing/2014/chart" uri="{C3380CC4-5D6E-409C-BE32-E72D297353CC}">
                <c16:uniqueId val="{0000003C-BC9E-427D-A6F3-665F54E2E03B}"/>
              </c:ext>
            </c:extLst>
          </c:dPt>
          <c:dPt>
            <c:idx val="12"/>
            <c:invertIfNegative val="0"/>
            <c:bubble3D val="0"/>
            <c:extLst>
              <c:ext xmlns:c16="http://schemas.microsoft.com/office/drawing/2014/chart" uri="{C3380CC4-5D6E-409C-BE32-E72D297353CC}">
                <c16:uniqueId val="{0000003E-BC9E-427D-A6F3-665F54E2E03B}"/>
              </c:ext>
            </c:extLst>
          </c:dPt>
          <c:dPt>
            <c:idx val="13"/>
            <c:invertIfNegative val="0"/>
            <c:bubble3D val="0"/>
            <c:extLst>
              <c:ext xmlns:c16="http://schemas.microsoft.com/office/drawing/2014/chart" uri="{C3380CC4-5D6E-409C-BE32-E72D297353CC}">
                <c16:uniqueId val="{00000040-BC9E-427D-A6F3-665F54E2E03B}"/>
              </c:ext>
            </c:extLst>
          </c:dPt>
          <c:dPt>
            <c:idx val="14"/>
            <c:invertIfNegative val="0"/>
            <c:bubble3D val="0"/>
            <c:extLst>
              <c:ext xmlns:c16="http://schemas.microsoft.com/office/drawing/2014/chart" uri="{C3380CC4-5D6E-409C-BE32-E72D297353CC}">
                <c16:uniqueId val="{00000042-BC9E-427D-A6F3-665F54E2E03B}"/>
              </c:ext>
            </c:extLst>
          </c:dPt>
          <c:dPt>
            <c:idx val="15"/>
            <c:invertIfNegative val="0"/>
            <c:bubble3D val="0"/>
            <c:extLst>
              <c:ext xmlns:c16="http://schemas.microsoft.com/office/drawing/2014/chart" uri="{C3380CC4-5D6E-409C-BE32-E72D297353CC}">
                <c16:uniqueId val="{00000044-BC9E-427D-A6F3-665F54E2E03B}"/>
              </c:ext>
            </c:extLst>
          </c:dPt>
          <c:dPt>
            <c:idx val="16"/>
            <c:invertIfNegative val="0"/>
            <c:bubble3D val="0"/>
            <c:extLst>
              <c:ext xmlns:c16="http://schemas.microsoft.com/office/drawing/2014/chart" uri="{C3380CC4-5D6E-409C-BE32-E72D297353CC}">
                <c16:uniqueId val="{00000046-BC9E-427D-A6F3-665F54E2E03B}"/>
              </c:ext>
            </c:extLst>
          </c:dPt>
          <c:dPt>
            <c:idx val="17"/>
            <c:invertIfNegative val="0"/>
            <c:bubble3D val="0"/>
            <c:extLst>
              <c:ext xmlns:c16="http://schemas.microsoft.com/office/drawing/2014/chart" uri="{C3380CC4-5D6E-409C-BE32-E72D297353CC}">
                <c16:uniqueId val="{00000048-BC9E-427D-A6F3-665F54E2E03B}"/>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AAA!$B$2:$D$2</c:f>
              <c:strCache>
                <c:ptCount val="3"/>
                <c:pt idx="0">
                  <c:v>Wins</c:v>
                </c:pt>
                <c:pt idx="1">
                  <c:v>Losses</c:v>
                </c:pt>
                <c:pt idx="2">
                  <c:v>Total_Matches</c:v>
                </c:pt>
              </c:strCache>
            </c:strRef>
          </c:cat>
          <c:val>
            <c:numRef>
              <c:f>AAA!$B$4:$D$4</c:f>
              <c:numCache>
                <c:formatCode>General</c:formatCode>
                <c:ptCount val="3"/>
                <c:pt idx="0">
                  <c:v>1</c:v>
                </c:pt>
                <c:pt idx="1">
                  <c:v>3</c:v>
                </c:pt>
                <c:pt idx="2">
                  <c:v>4</c:v>
                </c:pt>
              </c:numCache>
            </c:numRef>
          </c:val>
          <c:extLst>
            <c:ext xmlns:c16="http://schemas.microsoft.com/office/drawing/2014/chart" uri="{C3380CC4-5D6E-409C-BE32-E72D297353CC}">
              <c16:uniqueId val="{00000049-BC9E-427D-A6F3-665F54E2E03B}"/>
            </c:ext>
          </c:extLst>
        </c:ser>
        <c:ser>
          <c:idx val="2"/>
          <c:order val="2"/>
          <c:tx>
            <c:strRef>
              <c:f>AAA!$A$5</c:f>
              <c:strCache>
                <c:ptCount val="1"/>
                <c:pt idx="0">
                  <c:v>Wankhede Stadium</c:v>
                </c:pt>
              </c:strCache>
            </c:strRef>
          </c:tx>
          <c:spPr>
            <a:solidFill>
              <a:schemeClr val="accent6"/>
            </a:solidFill>
            <a:ln>
              <a:noFill/>
            </a:ln>
            <a:effectLst/>
          </c:spPr>
          <c:invertIfNegative val="0"/>
          <c:dPt>
            <c:idx val="0"/>
            <c:invertIfNegative val="0"/>
            <c:bubble3D val="0"/>
            <c:extLst>
              <c:ext xmlns:c16="http://schemas.microsoft.com/office/drawing/2014/chart" uri="{C3380CC4-5D6E-409C-BE32-E72D297353CC}">
                <c16:uniqueId val="{0000004B-BC9E-427D-A6F3-665F54E2E03B}"/>
              </c:ext>
            </c:extLst>
          </c:dPt>
          <c:dPt>
            <c:idx val="1"/>
            <c:invertIfNegative val="0"/>
            <c:bubble3D val="0"/>
            <c:extLst>
              <c:ext xmlns:c16="http://schemas.microsoft.com/office/drawing/2014/chart" uri="{C3380CC4-5D6E-409C-BE32-E72D297353CC}">
                <c16:uniqueId val="{0000004D-BC9E-427D-A6F3-665F54E2E03B}"/>
              </c:ext>
            </c:extLst>
          </c:dPt>
          <c:dPt>
            <c:idx val="2"/>
            <c:invertIfNegative val="0"/>
            <c:bubble3D val="0"/>
            <c:extLst>
              <c:ext xmlns:c16="http://schemas.microsoft.com/office/drawing/2014/chart" uri="{C3380CC4-5D6E-409C-BE32-E72D297353CC}">
                <c16:uniqueId val="{0000004F-BC9E-427D-A6F3-665F54E2E03B}"/>
              </c:ext>
            </c:extLst>
          </c:dPt>
          <c:dPt>
            <c:idx val="3"/>
            <c:invertIfNegative val="0"/>
            <c:bubble3D val="0"/>
            <c:extLst>
              <c:ext xmlns:c16="http://schemas.microsoft.com/office/drawing/2014/chart" uri="{C3380CC4-5D6E-409C-BE32-E72D297353CC}">
                <c16:uniqueId val="{00000051-BC9E-427D-A6F3-665F54E2E03B}"/>
              </c:ext>
            </c:extLst>
          </c:dPt>
          <c:dPt>
            <c:idx val="4"/>
            <c:invertIfNegative val="0"/>
            <c:bubble3D val="0"/>
            <c:extLst>
              <c:ext xmlns:c16="http://schemas.microsoft.com/office/drawing/2014/chart" uri="{C3380CC4-5D6E-409C-BE32-E72D297353CC}">
                <c16:uniqueId val="{00000053-BC9E-427D-A6F3-665F54E2E03B}"/>
              </c:ext>
            </c:extLst>
          </c:dPt>
          <c:dPt>
            <c:idx val="5"/>
            <c:invertIfNegative val="0"/>
            <c:bubble3D val="0"/>
            <c:extLst>
              <c:ext xmlns:c16="http://schemas.microsoft.com/office/drawing/2014/chart" uri="{C3380CC4-5D6E-409C-BE32-E72D297353CC}">
                <c16:uniqueId val="{00000055-BC9E-427D-A6F3-665F54E2E03B}"/>
              </c:ext>
            </c:extLst>
          </c:dPt>
          <c:dPt>
            <c:idx val="6"/>
            <c:invertIfNegative val="0"/>
            <c:bubble3D val="0"/>
            <c:extLst>
              <c:ext xmlns:c16="http://schemas.microsoft.com/office/drawing/2014/chart" uri="{C3380CC4-5D6E-409C-BE32-E72D297353CC}">
                <c16:uniqueId val="{00000057-BC9E-427D-A6F3-665F54E2E03B}"/>
              </c:ext>
            </c:extLst>
          </c:dPt>
          <c:dPt>
            <c:idx val="7"/>
            <c:invertIfNegative val="0"/>
            <c:bubble3D val="0"/>
            <c:extLst>
              <c:ext xmlns:c16="http://schemas.microsoft.com/office/drawing/2014/chart" uri="{C3380CC4-5D6E-409C-BE32-E72D297353CC}">
                <c16:uniqueId val="{00000059-BC9E-427D-A6F3-665F54E2E03B}"/>
              </c:ext>
            </c:extLst>
          </c:dPt>
          <c:dPt>
            <c:idx val="8"/>
            <c:invertIfNegative val="0"/>
            <c:bubble3D val="0"/>
            <c:extLst>
              <c:ext xmlns:c16="http://schemas.microsoft.com/office/drawing/2014/chart" uri="{C3380CC4-5D6E-409C-BE32-E72D297353CC}">
                <c16:uniqueId val="{0000005B-BC9E-427D-A6F3-665F54E2E03B}"/>
              </c:ext>
            </c:extLst>
          </c:dPt>
          <c:dPt>
            <c:idx val="9"/>
            <c:invertIfNegative val="0"/>
            <c:bubble3D val="0"/>
            <c:extLst>
              <c:ext xmlns:c16="http://schemas.microsoft.com/office/drawing/2014/chart" uri="{C3380CC4-5D6E-409C-BE32-E72D297353CC}">
                <c16:uniqueId val="{0000005D-BC9E-427D-A6F3-665F54E2E03B}"/>
              </c:ext>
            </c:extLst>
          </c:dPt>
          <c:dPt>
            <c:idx val="10"/>
            <c:invertIfNegative val="0"/>
            <c:bubble3D val="0"/>
            <c:extLst>
              <c:ext xmlns:c16="http://schemas.microsoft.com/office/drawing/2014/chart" uri="{C3380CC4-5D6E-409C-BE32-E72D297353CC}">
                <c16:uniqueId val="{0000005F-BC9E-427D-A6F3-665F54E2E03B}"/>
              </c:ext>
            </c:extLst>
          </c:dPt>
          <c:dPt>
            <c:idx val="11"/>
            <c:invertIfNegative val="0"/>
            <c:bubble3D val="0"/>
            <c:extLst>
              <c:ext xmlns:c16="http://schemas.microsoft.com/office/drawing/2014/chart" uri="{C3380CC4-5D6E-409C-BE32-E72D297353CC}">
                <c16:uniqueId val="{00000061-BC9E-427D-A6F3-665F54E2E03B}"/>
              </c:ext>
            </c:extLst>
          </c:dPt>
          <c:dPt>
            <c:idx val="12"/>
            <c:invertIfNegative val="0"/>
            <c:bubble3D val="0"/>
            <c:extLst>
              <c:ext xmlns:c16="http://schemas.microsoft.com/office/drawing/2014/chart" uri="{C3380CC4-5D6E-409C-BE32-E72D297353CC}">
                <c16:uniqueId val="{00000063-BC9E-427D-A6F3-665F54E2E03B}"/>
              </c:ext>
            </c:extLst>
          </c:dPt>
          <c:dPt>
            <c:idx val="13"/>
            <c:invertIfNegative val="0"/>
            <c:bubble3D val="0"/>
            <c:extLst>
              <c:ext xmlns:c16="http://schemas.microsoft.com/office/drawing/2014/chart" uri="{C3380CC4-5D6E-409C-BE32-E72D297353CC}">
                <c16:uniqueId val="{00000065-BC9E-427D-A6F3-665F54E2E03B}"/>
              </c:ext>
            </c:extLst>
          </c:dPt>
          <c:dPt>
            <c:idx val="14"/>
            <c:invertIfNegative val="0"/>
            <c:bubble3D val="0"/>
            <c:extLst>
              <c:ext xmlns:c16="http://schemas.microsoft.com/office/drawing/2014/chart" uri="{C3380CC4-5D6E-409C-BE32-E72D297353CC}">
                <c16:uniqueId val="{00000067-BC9E-427D-A6F3-665F54E2E03B}"/>
              </c:ext>
            </c:extLst>
          </c:dPt>
          <c:dPt>
            <c:idx val="15"/>
            <c:invertIfNegative val="0"/>
            <c:bubble3D val="0"/>
            <c:extLst>
              <c:ext xmlns:c16="http://schemas.microsoft.com/office/drawing/2014/chart" uri="{C3380CC4-5D6E-409C-BE32-E72D297353CC}">
                <c16:uniqueId val="{00000069-BC9E-427D-A6F3-665F54E2E03B}"/>
              </c:ext>
            </c:extLst>
          </c:dPt>
          <c:dPt>
            <c:idx val="16"/>
            <c:invertIfNegative val="0"/>
            <c:bubble3D val="0"/>
            <c:extLst>
              <c:ext xmlns:c16="http://schemas.microsoft.com/office/drawing/2014/chart" uri="{C3380CC4-5D6E-409C-BE32-E72D297353CC}">
                <c16:uniqueId val="{0000006B-BC9E-427D-A6F3-665F54E2E03B}"/>
              </c:ext>
            </c:extLst>
          </c:dPt>
          <c:dPt>
            <c:idx val="17"/>
            <c:invertIfNegative val="0"/>
            <c:bubble3D val="0"/>
            <c:extLst>
              <c:ext xmlns:c16="http://schemas.microsoft.com/office/drawing/2014/chart" uri="{C3380CC4-5D6E-409C-BE32-E72D297353CC}">
                <c16:uniqueId val="{0000006D-BC9E-427D-A6F3-665F54E2E03B}"/>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AAA!$B$2:$D$2</c:f>
              <c:strCache>
                <c:ptCount val="3"/>
                <c:pt idx="0">
                  <c:v>Wins</c:v>
                </c:pt>
                <c:pt idx="1">
                  <c:v>Losses</c:v>
                </c:pt>
                <c:pt idx="2">
                  <c:v>Total_Matches</c:v>
                </c:pt>
              </c:strCache>
            </c:strRef>
          </c:cat>
          <c:val>
            <c:numRef>
              <c:f>AAA!$B$5:$D$5</c:f>
              <c:numCache>
                <c:formatCode>General</c:formatCode>
                <c:ptCount val="3"/>
                <c:pt idx="0">
                  <c:v>1</c:v>
                </c:pt>
                <c:pt idx="1">
                  <c:v>3</c:v>
                </c:pt>
                <c:pt idx="2">
                  <c:v>4</c:v>
                </c:pt>
              </c:numCache>
            </c:numRef>
          </c:val>
          <c:extLst>
            <c:ext xmlns:c16="http://schemas.microsoft.com/office/drawing/2014/chart" uri="{C3380CC4-5D6E-409C-BE32-E72D297353CC}">
              <c16:uniqueId val="{0000006E-BC9E-427D-A6F3-665F54E2E03B}"/>
            </c:ext>
          </c:extLst>
        </c:ser>
        <c:ser>
          <c:idx val="3"/>
          <c:order val="3"/>
          <c:tx>
            <c:strRef>
              <c:f>AAA!$A$6</c:f>
              <c:strCache>
                <c:ptCount val="1"/>
                <c:pt idx="0">
                  <c:v>JSCA International Stadium Complex</c:v>
                </c:pt>
              </c:strCache>
            </c:strRef>
          </c:tx>
          <c:spPr>
            <a:solidFill>
              <a:schemeClr val="accent2">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AAA!$B$2:$D$2</c:f>
              <c:strCache>
                <c:ptCount val="3"/>
                <c:pt idx="0">
                  <c:v>Wins</c:v>
                </c:pt>
                <c:pt idx="1">
                  <c:v>Losses</c:v>
                </c:pt>
                <c:pt idx="2">
                  <c:v>Total_Matches</c:v>
                </c:pt>
              </c:strCache>
            </c:strRef>
          </c:cat>
          <c:val>
            <c:numRef>
              <c:f>AAA!$B$6:$D$6</c:f>
              <c:numCache>
                <c:formatCode>General</c:formatCode>
                <c:ptCount val="3"/>
                <c:pt idx="0">
                  <c:v>1</c:v>
                </c:pt>
                <c:pt idx="1">
                  <c:v>2</c:v>
                </c:pt>
                <c:pt idx="2">
                  <c:v>3</c:v>
                </c:pt>
              </c:numCache>
            </c:numRef>
          </c:val>
          <c:extLst>
            <c:ext xmlns:c16="http://schemas.microsoft.com/office/drawing/2014/chart" uri="{C3380CC4-5D6E-409C-BE32-E72D297353CC}">
              <c16:uniqueId val="{0000006F-BC9E-427D-A6F3-665F54E2E03B}"/>
            </c:ext>
          </c:extLst>
        </c:ser>
        <c:ser>
          <c:idx val="4"/>
          <c:order val="4"/>
          <c:tx>
            <c:strRef>
              <c:f>AAA!$A$7</c:f>
              <c:strCache>
                <c:ptCount val="1"/>
                <c:pt idx="0">
                  <c:v>Eden Gardens</c:v>
                </c:pt>
              </c:strCache>
            </c:strRef>
          </c:tx>
          <c:spPr>
            <a:solidFill>
              <a:schemeClr val="accent4">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AAA!$B$2:$D$2</c:f>
              <c:strCache>
                <c:ptCount val="3"/>
                <c:pt idx="0">
                  <c:v>Wins</c:v>
                </c:pt>
                <c:pt idx="1">
                  <c:v>Losses</c:v>
                </c:pt>
                <c:pt idx="2">
                  <c:v>Total_Matches</c:v>
                </c:pt>
              </c:strCache>
            </c:strRef>
          </c:cat>
          <c:val>
            <c:numRef>
              <c:f>AAA!$B$7:$D$7</c:f>
              <c:numCache>
                <c:formatCode>General</c:formatCode>
                <c:ptCount val="3"/>
                <c:pt idx="0">
                  <c:v>2</c:v>
                </c:pt>
                <c:pt idx="1">
                  <c:v>1</c:v>
                </c:pt>
                <c:pt idx="2">
                  <c:v>3</c:v>
                </c:pt>
              </c:numCache>
            </c:numRef>
          </c:val>
          <c:extLst>
            <c:ext xmlns:c16="http://schemas.microsoft.com/office/drawing/2014/chart" uri="{C3380CC4-5D6E-409C-BE32-E72D297353CC}">
              <c16:uniqueId val="{00000070-BC9E-427D-A6F3-665F54E2E03B}"/>
            </c:ext>
          </c:extLst>
        </c:ser>
        <c:ser>
          <c:idx val="5"/>
          <c:order val="5"/>
          <c:tx>
            <c:strRef>
              <c:f>AAA!$A$8</c:f>
              <c:strCache>
                <c:ptCount val="1"/>
                <c:pt idx="0">
                  <c:v>MA Chidambaram Stadium, Chepauk</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AAA!$B$2:$D$2</c:f>
              <c:strCache>
                <c:ptCount val="3"/>
                <c:pt idx="0">
                  <c:v>Wins</c:v>
                </c:pt>
                <c:pt idx="1">
                  <c:v>Losses</c:v>
                </c:pt>
                <c:pt idx="2">
                  <c:v>Total_Matches</c:v>
                </c:pt>
              </c:strCache>
            </c:strRef>
          </c:cat>
          <c:val>
            <c:numRef>
              <c:f>AAA!$B$8:$D$8</c:f>
              <c:numCache>
                <c:formatCode>General</c:formatCode>
                <c:ptCount val="3"/>
                <c:pt idx="0">
                  <c:v>0</c:v>
                </c:pt>
                <c:pt idx="1">
                  <c:v>2</c:v>
                </c:pt>
                <c:pt idx="2">
                  <c:v>2</c:v>
                </c:pt>
              </c:numCache>
            </c:numRef>
          </c:val>
          <c:extLst>
            <c:ext xmlns:c16="http://schemas.microsoft.com/office/drawing/2014/chart" uri="{C3380CC4-5D6E-409C-BE32-E72D297353CC}">
              <c16:uniqueId val="{00000071-BC9E-427D-A6F3-665F54E2E03B}"/>
            </c:ext>
          </c:extLst>
        </c:ser>
        <c:ser>
          <c:idx val="6"/>
          <c:order val="6"/>
          <c:tx>
            <c:strRef>
              <c:f>AAA!$A$9</c:f>
              <c:strCache>
                <c:ptCount val="1"/>
                <c:pt idx="0">
                  <c:v>Feroz Shah Kotla</c:v>
                </c:pt>
              </c:strCache>
            </c:strRef>
          </c:tx>
          <c:spPr>
            <a:solidFill>
              <a:schemeClr val="accent2">
                <a:lumMod val="80000"/>
                <a:lumOff val="2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AAA!$B$2:$D$2</c:f>
              <c:strCache>
                <c:ptCount val="3"/>
                <c:pt idx="0">
                  <c:v>Wins</c:v>
                </c:pt>
                <c:pt idx="1">
                  <c:v>Losses</c:v>
                </c:pt>
                <c:pt idx="2">
                  <c:v>Total_Matches</c:v>
                </c:pt>
              </c:strCache>
            </c:strRef>
          </c:cat>
          <c:val>
            <c:numRef>
              <c:f>AAA!$B$9:$D$9</c:f>
              <c:numCache>
                <c:formatCode>General</c:formatCode>
                <c:ptCount val="3"/>
                <c:pt idx="0">
                  <c:v>2</c:v>
                </c:pt>
                <c:pt idx="1">
                  <c:v>0</c:v>
                </c:pt>
                <c:pt idx="2">
                  <c:v>2</c:v>
                </c:pt>
              </c:numCache>
            </c:numRef>
          </c:val>
          <c:extLst>
            <c:ext xmlns:c16="http://schemas.microsoft.com/office/drawing/2014/chart" uri="{C3380CC4-5D6E-409C-BE32-E72D297353CC}">
              <c16:uniqueId val="{00000072-BC9E-427D-A6F3-665F54E2E03B}"/>
            </c:ext>
          </c:extLst>
        </c:ser>
        <c:ser>
          <c:idx val="7"/>
          <c:order val="7"/>
          <c:tx>
            <c:strRef>
              <c:f>AAA!$A$10</c:f>
              <c:strCache>
                <c:ptCount val="1"/>
                <c:pt idx="0">
                  <c:v>Punjab Cricket Association Stadium, Mohali</c:v>
                </c:pt>
              </c:strCache>
            </c:strRef>
          </c:tx>
          <c:spPr>
            <a:solidFill>
              <a:schemeClr val="accent4">
                <a:lumMod val="80000"/>
                <a:lumOff val="2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AAA!$B$2:$D$2</c:f>
              <c:strCache>
                <c:ptCount val="3"/>
                <c:pt idx="0">
                  <c:v>Wins</c:v>
                </c:pt>
                <c:pt idx="1">
                  <c:v>Losses</c:v>
                </c:pt>
                <c:pt idx="2">
                  <c:v>Total_Matches</c:v>
                </c:pt>
              </c:strCache>
            </c:strRef>
          </c:cat>
          <c:val>
            <c:numRef>
              <c:f>AAA!$B$10:$D$10</c:f>
              <c:numCache>
                <c:formatCode>General</c:formatCode>
                <c:ptCount val="3"/>
                <c:pt idx="0">
                  <c:v>0</c:v>
                </c:pt>
                <c:pt idx="1">
                  <c:v>2</c:v>
                </c:pt>
                <c:pt idx="2">
                  <c:v>2</c:v>
                </c:pt>
              </c:numCache>
            </c:numRef>
          </c:val>
          <c:extLst>
            <c:ext xmlns:c16="http://schemas.microsoft.com/office/drawing/2014/chart" uri="{C3380CC4-5D6E-409C-BE32-E72D297353CC}">
              <c16:uniqueId val="{00000073-BC9E-427D-A6F3-665F54E2E03B}"/>
            </c:ext>
          </c:extLst>
        </c:ser>
        <c:ser>
          <c:idx val="8"/>
          <c:order val="8"/>
          <c:tx>
            <c:strRef>
              <c:f>AAA!$A$11</c:f>
              <c:strCache>
                <c:ptCount val="1"/>
                <c:pt idx="0">
                  <c:v>Sharjah Cricket Stadium</c:v>
                </c:pt>
              </c:strCache>
            </c:strRef>
          </c:tx>
          <c:spPr>
            <a:solidFill>
              <a:schemeClr val="accent6">
                <a:lumMod val="80000"/>
                <a:lumOff val="2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AAA!$B$2:$D$2</c:f>
              <c:strCache>
                <c:ptCount val="3"/>
                <c:pt idx="0">
                  <c:v>Wins</c:v>
                </c:pt>
                <c:pt idx="1">
                  <c:v>Losses</c:v>
                </c:pt>
                <c:pt idx="2">
                  <c:v>Total_Matches</c:v>
                </c:pt>
              </c:strCache>
            </c:strRef>
          </c:cat>
          <c:val>
            <c:numRef>
              <c:f>AAA!$B$11:$D$11</c:f>
              <c:numCache>
                <c:formatCode>General</c:formatCode>
                <c:ptCount val="3"/>
                <c:pt idx="0">
                  <c:v>1</c:v>
                </c:pt>
                <c:pt idx="1">
                  <c:v>1</c:v>
                </c:pt>
                <c:pt idx="2">
                  <c:v>2</c:v>
                </c:pt>
              </c:numCache>
            </c:numRef>
          </c:val>
          <c:extLst>
            <c:ext xmlns:c16="http://schemas.microsoft.com/office/drawing/2014/chart" uri="{C3380CC4-5D6E-409C-BE32-E72D297353CC}">
              <c16:uniqueId val="{00000074-BC9E-427D-A6F3-665F54E2E03B}"/>
            </c:ext>
          </c:extLst>
        </c:ser>
        <c:ser>
          <c:idx val="9"/>
          <c:order val="9"/>
          <c:tx>
            <c:strRef>
              <c:f>AAA!$A$12</c:f>
              <c:strCache>
                <c:ptCount val="1"/>
                <c:pt idx="0">
                  <c:v>Dubai International Cricket Stadium</c:v>
                </c:pt>
              </c:strCache>
            </c:strRef>
          </c:tx>
          <c:spPr>
            <a:solidFill>
              <a:schemeClr val="accent2">
                <a:lumMod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AAA!$B$2:$D$2</c:f>
              <c:strCache>
                <c:ptCount val="3"/>
                <c:pt idx="0">
                  <c:v>Wins</c:v>
                </c:pt>
                <c:pt idx="1">
                  <c:v>Losses</c:v>
                </c:pt>
                <c:pt idx="2">
                  <c:v>Total_Matches</c:v>
                </c:pt>
              </c:strCache>
            </c:strRef>
          </c:cat>
          <c:val>
            <c:numRef>
              <c:f>AAA!$B$12:$D$12</c:f>
              <c:numCache>
                <c:formatCode>General</c:formatCode>
                <c:ptCount val="3"/>
                <c:pt idx="0">
                  <c:v>1</c:v>
                </c:pt>
                <c:pt idx="1">
                  <c:v>1</c:v>
                </c:pt>
                <c:pt idx="2">
                  <c:v>2</c:v>
                </c:pt>
              </c:numCache>
            </c:numRef>
          </c:val>
          <c:extLst>
            <c:ext xmlns:c16="http://schemas.microsoft.com/office/drawing/2014/chart" uri="{C3380CC4-5D6E-409C-BE32-E72D297353CC}">
              <c16:uniqueId val="{00000075-BC9E-427D-A6F3-665F54E2E03B}"/>
            </c:ext>
          </c:extLst>
        </c:ser>
        <c:ser>
          <c:idx val="10"/>
          <c:order val="10"/>
          <c:tx>
            <c:strRef>
              <c:f>AAA!$A$13</c:f>
              <c:strCache>
                <c:ptCount val="1"/>
                <c:pt idx="0">
                  <c:v>Maharashtra Cricket Association Stadium</c:v>
                </c:pt>
              </c:strCache>
            </c:strRef>
          </c:tx>
          <c:spPr>
            <a:solidFill>
              <a:schemeClr val="accent4">
                <a:lumMod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AAA!$B$2:$D$2</c:f>
              <c:strCache>
                <c:ptCount val="3"/>
                <c:pt idx="0">
                  <c:v>Wins</c:v>
                </c:pt>
                <c:pt idx="1">
                  <c:v>Losses</c:v>
                </c:pt>
                <c:pt idx="2">
                  <c:v>Total_Matches</c:v>
                </c:pt>
              </c:strCache>
            </c:strRef>
          </c:cat>
          <c:val>
            <c:numRef>
              <c:f>AAA!$B$13:$D$13</c:f>
              <c:numCache>
                <c:formatCode>General</c:formatCode>
                <c:ptCount val="3"/>
                <c:pt idx="0">
                  <c:v>2</c:v>
                </c:pt>
                <c:pt idx="1">
                  <c:v>0</c:v>
                </c:pt>
                <c:pt idx="2">
                  <c:v>2</c:v>
                </c:pt>
              </c:numCache>
            </c:numRef>
          </c:val>
          <c:extLst>
            <c:ext xmlns:c16="http://schemas.microsoft.com/office/drawing/2014/chart" uri="{C3380CC4-5D6E-409C-BE32-E72D297353CC}">
              <c16:uniqueId val="{00000076-BC9E-427D-A6F3-665F54E2E03B}"/>
            </c:ext>
          </c:extLst>
        </c:ser>
        <c:ser>
          <c:idx val="11"/>
          <c:order val="11"/>
          <c:tx>
            <c:strRef>
              <c:f>AAA!$A$14</c:f>
              <c:strCache>
                <c:ptCount val="1"/>
                <c:pt idx="0">
                  <c:v>Sawai Mansingh Stadium</c:v>
                </c:pt>
              </c:strCache>
            </c:strRef>
          </c:tx>
          <c:spPr>
            <a:solidFill>
              <a:schemeClr val="accent6">
                <a:lumMod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AAA!$B$2:$D$2</c:f>
              <c:strCache>
                <c:ptCount val="3"/>
                <c:pt idx="0">
                  <c:v>Wins</c:v>
                </c:pt>
                <c:pt idx="1">
                  <c:v>Losses</c:v>
                </c:pt>
                <c:pt idx="2">
                  <c:v>Total_Matches</c:v>
                </c:pt>
              </c:strCache>
            </c:strRef>
          </c:cat>
          <c:val>
            <c:numRef>
              <c:f>AAA!$B$14:$D$14</c:f>
              <c:numCache>
                <c:formatCode>General</c:formatCode>
                <c:ptCount val="3"/>
                <c:pt idx="0">
                  <c:v>0</c:v>
                </c:pt>
                <c:pt idx="1">
                  <c:v>1</c:v>
                </c:pt>
                <c:pt idx="2">
                  <c:v>1</c:v>
                </c:pt>
              </c:numCache>
            </c:numRef>
          </c:val>
          <c:extLst>
            <c:ext xmlns:c16="http://schemas.microsoft.com/office/drawing/2014/chart" uri="{C3380CC4-5D6E-409C-BE32-E72D297353CC}">
              <c16:uniqueId val="{00000077-BC9E-427D-A6F3-665F54E2E03B}"/>
            </c:ext>
          </c:extLst>
        </c:ser>
        <c:ser>
          <c:idx val="12"/>
          <c:order val="12"/>
          <c:tx>
            <c:strRef>
              <c:f>AAA!$A$15</c:f>
              <c:strCache>
                <c:ptCount val="1"/>
                <c:pt idx="0">
                  <c:v>Subrata Roy Sahara Stadium</c:v>
                </c:pt>
              </c:strCache>
            </c:strRef>
          </c:tx>
          <c:spPr>
            <a:solidFill>
              <a:schemeClr val="accent2">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AAA!$B$2:$D$2</c:f>
              <c:strCache>
                <c:ptCount val="3"/>
                <c:pt idx="0">
                  <c:v>Wins</c:v>
                </c:pt>
                <c:pt idx="1">
                  <c:v>Losses</c:v>
                </c:pt>
                <c:pt idx="2">
                  <c:v>Total_Matches</c:v>
                </c:pt>
              </c:strCache>
            </c:strRef>
          </c:cat>
          <c:val>
            <c:numRef>
              <c:f>AAA!$B$15:$D$15</c:f>
              <c:numCache>
                <c:formatCode>General</c:formatCode>
                <c:ptCount val="3"/>
                <c:pt idx="0">
                  <c:v>1</c:v>
                </c:pt>
                <c:pt idx="1">
                  <c:v>0</c:v>
                </c:pt>
                <c:pt idx="2">
                  <c:v>1</c:v>
                </c:pt>
              </c:numCache>
            </c:numRef>
          </c:val>
          <c:extLst>
            <c:ext xmlns:c16="http://schemas.microsoft.com/office/drawing/2014/chart" uri="{C3380CC4-5D6E-409C-BE32-E72D297353CC}">
              <c16:uniqueId val="{00000078-BC9E-427D-A6F3-665F54E2E03B}"/>
            </c:ext>
          </c:extLst>
        </c:ser>
        <c:ser>
          <c:idx val="13"/>
          <c:order val="13"/>
          <c:tx>
            <c:strRef>
              <c:f>AAA!$A$16</c:f>
              <c:strCache>
                <c:ptCount val="1"/>
                <c:pt idx="0">
                  <c:v>Sheikh Zayed Stadium</c:v>
                </c:pt>
              </c:strCache>
            </c:strRef>
          </c:tx>
          <c:spPr>
            <a:solidFill>
              <a:schemeClr val="accent4">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AAA!$B$2:$D$2</c:f>
              <c:strCache>
                <c:ptCount val="3"/>
                <c:pt idx="0">
                  <c:v>Wins</c:v>
                </c:pt>
                <c:pt idx="1">
                  <c:v>Losses</c:v>
                </c:pt>
                <c:pt idx="2">
                  <c:v>Total_Matches</c:v>
                </c:pt>
              </c:strCache>
            </c:strRef>
          </c:cat>
          <c:val>
            <c:numRef>
              <c:f>AAA!$B$16:$D$16</c:f>
              <c:numCache>
                <c:formatCode>General</c:formatCode>
                <c:ptCount val="3"/>
                <c:pt idx="0">
                  <c:v>0</c:v>
                </c:pt>
                <c:pt idx="1">
                  <c:v>1</c:v>
                </c:pt>
                <c:pt idx="2">
                  <c:v>1</c:v>
                </c:pt>
              </c:numCache>
            </c:numRef>
          </c:val>
          <c:extLst>
            <c:ext xmlns:c16="http://schemas.microsoft.com/office/drawing/2014/chart" uri="{C3380CC4-5D6E-409C-BE32-E72D297353CC}">
              <c16:uniqueId val="{00000079-BC9E-427D-A6F3-665F54E2E03B}"/>
            </c:ext>
          </c:extLst>
        </c:ser>
        <c:ser>
          <c:idx val="14"/>
          <c:order val="14"/>
          <c:tx>
            <c:strRef>
              <c:f>AAA!$A$17</c:f>
              <c:strCache>
                <c:ptCount val="1"/>
                <c:pt idx="0">
                  <c:v>Sardar Patel Stadium, Motera</c:v>
                </c:pt>
              </c:strCache>
            </c:strRef>
          </c:tx>
          <c:spPr>
            <a:solidFill>
              <a:schemeClr val="accent6">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AAA!$B$2:$D$2</c:f>
              <c:strCache>
                <c:ptCount val="3"/>
                <c:pt idx="0">
                  <c:v>Wins</c:v>
                </c:pt>
                <c:pt idx="1">
                  <c:v>Losses</c:v>
                </c:pt>
                <c:pt idx="2">
                  <c:v>Total_Matches</c:v>
                </c:pt>
              </c:strCache>
            </c:strRef>
          </c:cat>
          <c:val>
            <c:numRef>
              <c:f>AAA!$B$17:$D$17</c:f>
              <c:numCache>
                <c:formatCode>General</c:formatCode>
                <c:ptCount val="3"/>
                <c:pt idx="0">
                  <c:v>1</c:v>
                </c:pt>
                <c:pt idx="1">
                  <c:v>0</c:v>
                </c:pt>
                <c:pt idx="2">
                  <c:v>1</c:v>
                </c:pt>
              </c:numCache>
            </c:numRef>
          </c:val>
          <c:extLst>
            <c:ext xmlns:c16="http://schemas.microsoft.com/office/drawing/2014/chart" uri="{C3380CC4-5D6E-409C-BE32-E72D297353CC}">
              <c16:uniqueId val="{0000007A-BC9E-427D-A6F3-665F54E2E03B}"/>
            </c:ext>
          </c:extLst>
        </c:ser>
        <c:ser>
          <c:idx val="15"/>
          <c:order val="15"/>
          <c:tx>
            <c:strRef>
              <c:f>AAA!$A$18</c:f>
              <c:strCache>
                <c:ptCount val="1"/>
                <c:pt idx="0">
                  <c:v>Saurashtra Cricket Association Stadium</c:v>
                </c:pt>
              </c:strCache>
            </c:strRef>
          </c:tx>
          <c:spPr>
            <a:solidFill>
              <a:schemeClr val="accent2">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AAA!$B$2:$D$2</c:f>
              <c:strCache>
                <c:ptCount val="3"/>
                <c:pt idx="0">
                  <c:v>Wins</c:v>
                </c:pt>
                <c:pt idx="1">
                  <c:v>Losses</c:v>
                </c:pt>
                <c:pt idx="2">
                  <c:v>Total_Matches</c:v>
                </c:pt>
              </c:strCache>
            </c:strRef>
          </c:cat>
          <c:val>
            <c:numRef>
              <c:f>AAA!$B$18:$D$18</c:f>
              <c:numCache>
                <c:formatCode>General</c:formatCode>
                <c:ptCount val="3"/>
                <c:pt idx="0">
                  <c:v>0</c:v>
                </c:pt>
                <c:pt idx="1">
                  <c:v>1</c:v>
                </c:pt>
                <c:pt idx="2">
                  <c:v>1</c:v>
                </c:pt>
              </c:numCache>
            </c:numRef>
          </c:val>
          <c:extLst>
            <c:ext xmlns:c16="http://schemas.microsoft.com/office/drawing/2014/chart" uri="{C3380CC4-5D6E-409C-BE32-E72D297353CC}">
              <c16:uniqueId val="{0000007B-BC9E-427D-A6F3-665F54E2E03B}"/>
            </c:ext>
          </c:extLst>
        </c:ser>
        <c:ser>
          <c:idx val="16"/>
          <c:order val="16"/>
          <c:tx>
            <c:strRef>
              <c:f>AAA!$A$19</c:f>
              <c:strCache>
                <c:ptCount val="1"/>
                <c:pt idx="0">
                  <c:v>Punjab Cricket Association IS Bindra Stadium, Mohali</c:v>
                </c:pt>
              </c:strCache>
            </c:strRef>
          </c:tx>
          <c:spPr>
            <a:solidFill>
              <a:schemeClr val="accent4">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AAA!$B$2:$D$2</c:f>
              <c:strCache>
                <c:ptCount val="3"/>
                <c:pt idx="0">
                  <c:v>Wins</c:v>
                </c:pt>
                <c:pt idx="1">
                  <c:v>Losses</c:v>
                </c:pt>
                <c:pt idx="2">
                  <c:v>Total_Matches</c:v>
                </c:pt>
              </c:strCache>
            </c:strRef>
          </c:cat>
          <c:val>
            <c:numRef>
              <c:f>AAA!$B$19:$D$19</c:f>
              <c:numCache>
                <c:formatCode>General</c:formatCode>
                <c:ptCount val="3"/>
                <c:pt idx="0">
                  <c:v>1</c:v>
                </c:pt>
                <c:pt idx="1">
                  <c:v>0</c:v>
                </c:pt>
                <c:pt idx="2">
                  <c:v>1</c:v>
                </c:pt>
              </c:numCache>
            </c:numRef>
          </c:val>
          <c:extLst>
            <c:ext xmlns:c16="http://schemas.microsoft.com/office/drawing/2014/chart" uri="{C3380CC4-5D6E-409C-BE32-E72D297353CC}">
              <c16:uniqueId val="{0000007C-BC9E-427D-A6F3-665F54E2E03B}"/>
            </c:ext>
          </c:extLst>
        </c:ser>
        <c:ser>
          <c:idx val="17"/>
          <c:order val="17"/>
          <c:tx>
            <c:strRef>
              <c:f>AAA!$A$20</c:f>
              <c:strCache>
                <c:ptCount val="1"/>
                <c:pt idx="0">
                  <c:v>Shaheed Veer Narayan Singh International Stadium</c:v>
                </c:pt>
              </c:strCache>
            </c:strRef>
          </c:tx>
          <c:spPr>
            <a:solidFill>
              <a:schemeClr val="accent6">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AAA!$B$2:$D$2</c:f>
              <c:strCache>
                <c:ptCount val="3"/>
                <c:pt idx="0">
                  <c:v>Wins</c:v>
                </c:pt>
                <c:pt idx="1">
                  <c:v>Losses</c:v>
                </c:pt>
                <c:pt idx="2">
                  <c:v>Total_Matches</c:v>
                </c:pt>
              </c:strCache>
            </c:strRef>
          </c:cat>
          <c:val>
            <c:numRef>
              <c:f>AAA!$B$20:$D$20</c:f>
              <c:numCache>
                <c:formatCode>General</c:formatCode>
                <c:ptCount val="3"/>
                <c:pt idx="0">
                  <c:v>1</c:v>
                </c:pt>
                <c:pt idx="1">
                  <c:v>0</c:v>
                </c:pt>
                <c:pt idx="2">
                  <c:v>1</c:v>
                </c:pt>
              </c:numCache>
            </c:numRef>
          </c:val>
          <c:extLst>
            <c:ext xmlns:c16="http://schemas.microsoft.com/office/drawing/2014/chart" uri="{C3380CC4-5D6E-409C-BE32-E72D297353CC}">
              <c16:uniqueId val="{0000007D-BC9E-427D-A6F3-665F54E2E03B}"/>
            </c:ext>
          </c:extLst>
        </c:ser>
        <c:dLbls>
          <c:dLblPos val="ctr"/>
          <c:showLegendKey val="0"/>
          <c:showVal val="1"/>
          <c:showCatName val="0"/>
          <c:showSerName val="0"/>
          <c:showPercent val="0"/>
          <c:showBubbleSize val="0"/>
        </c:dLbls>
        <c:gapWidth val="79"/>
        <c:overlap val="100"/>
        <c:axId val="428587999"/>
        <c:axId val="434242703"/>
      </c:barChart>
      <c:valAx>
        <c:axId val="434242703"/>
        <c:scaling>
          <c:orientation val="minMax"/>
        </c:scaling>
        <c:delete val="1"/>
        <c:axPos val="b"/>
        <c:title>
          <c:tx>
            <c:rich>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GB"/>
                  <a:t>Number of Wins</a:t>
                </a:r>
              </a:p>
            </c:rich>
          </c:tx>
          <c:overlay val="0"/>
          <c:spPr>
            <a:noFill/>
            <a:ln>
              <a:noFill/>
            </a:ln>
            <a:effectLst/>
          </c:spPr>
          <c:txPr>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crossAx val="428587999"/>
        <c:crosses val="autoZero"/>
        <c:crossBetween val="between"/>
      </c:valAx>
      <c:catAx>
        <c:axId val="42858799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GB"/>
                  <a:t>Venue</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434242703"/>
        <c:crosses val="autoZero"/>
        <c:auto val="1"/>
        <c:lblAlgn val="ctr"/>
        <c:lblOffset val="100"/>
        <c:noMultiLvlLbl val="0"/>
      </c:catAx>
      <c:spPr>
        <a:noFill/>
        <a:ln>
          <a:noFill/>
        </a:ln>
        <a:effectLst/>
      </c:spPr>
    </c:plotArea>
    <c:legend>
      <c:legendPos val="t"/>
      <c:layout>
        <c:manualLayout>
          <c:xMode val="edge"/>
          <c:yMode val="edge"/>
          <c:x val="0.26816259327147435"/>
          <c:y val="0.10881878382656252"/>
          <c:w val="0.46026185747250731"/>
          <c:h val="0.52346274793924075"/>
        </c:manualLayout>
      </c:layout>
      <c:overlay val="0"/>
      <c:spPr>
        <a:noFill/>
        <a:ln>
          <a:noFill/>
        </a:ln>
        <a:effectLst>
          <a:glow rad="1905000">
            <a:schemeClr val="accent1">
              <a:alpha val="47000"/>
            </a:schemeClr>
          </a:glow>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400" b="0" i="0" u="none" strike="noStrike" baseline="0"/>
              <a:t>Toss vs Match Result</a:t>
            </a:r>
            <a:endParaRPr lang="en-GB"/>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manualLayout>
          <c:layoutTarget val="inner"/>
          <c:xMode val="edge"/>
          <c:yMode val="edge"/>
          <c:x val="0.10896658842977226"/>
          <c:y val="0.14279905483621422"/>
          <c:w val="0.83753209815511043"/>
          <c:h val="0.70794246158307794"/>
        </c:manualLayout>
      </c:layout>
      <c:barChart>
        <c:barDir val="col"/>
        <c:grouping val="clustered"/>
        <c:varyColors val="0"/>
        <c:ser>
          <c:idx val="0"/>
          <c:order val="0"/>
          <c:tx>
            <c:strRef>
              <c:f>ddd!$A$3</c:f>
              <c:strCache>
                <c:ptCount val="1"/>
                <c:pt idx="0">
                  <c:v>field</c:v>
                </c:pt>
              </c:strCache>
            </c:strRef>
          </c:tx>
          <c:spPr>
            <a:solidFill>
              <a:schemeClr val="accent4">
                <a:tint val="77000"/>
              </a:schemeClr>
            </a:solidFill>
            <a:ln w="19050">
              <a:solidFill>
                <a:schemeClr val="lt1"/>
              </a:solidFill>
            </a:ln>
            <a:effectLst/>
          </c:spPr>
          <c:invertIfNegative val="0"/>
          <c:dPt>
            <c:idx val="0"/>
            <c:invertIfNegative val="0"/>
            <c:bubble3D val="0"/>
            <c:spPr>
              <a:solidFill>
                <a:schemeClr val="accent4">
                  <a:tint val="65000"/>
                </a:schemeClr>
              </a:solidFill>
              <a:ln w="19050">
                <a:solidFill>
                  <a:schemeClr val="lt1"/>
                </a:solidFill>
              </a:ln>
              <a:effectLst/>
            </c:spPr>
            <c:extLst>
              <c:ext xmlns:c16="http://schemas.microsoft.com/office/drawing/2014/chart" uri="{C3380CC4-5D6E-409C-BE32-E72D297353CC}">
                <c16:uniqueId val="{00000001-AA4E-4EFC-9417-B51E04D3B6C4}"/>
              </c:ext>
            </c:extLst>
          </c:dPt>
          <c:dPt>
            <c:idx val="1"/>
            <c:invertIfNegative val="0"/>
            <c:bubble3D val="0"/>
            <c:spPr>
              <a:solidFill>
                <a:schemeClr val="accent4"/>
              </a:solidFill>
              <a:ln w="19050">
                <a:solidFill>
                  <a:schemeClr val="lt1"/>
                </a:solidFill>
              </a:ln>
              <a:effectLst/>
            </c:spPr>
            <c:extLst>
              <c:ext xmlns:c16="http://schemas.microsoft.com/office/drawing/2014/chart" uri="{C3380CC4-5D6E-409C-BE32-E72D297353CC}">
                <c16:uniqueId val="{00000003-AA4E-4EFC-9417-B51E04D3B6C4}"/>
              </c:ext>
            </c:extLst>
          </c:dPt>
          <c:dPt>
            <c:idx val="2"/>
            <c:invertIfNegative val="0"/>
            <c:bubble3D val="0"/>
            <c:spPr>
              <a:solidFill>
                <a:schemeClr val="accent4">
                  <a:shade val="65000"/>
                </a:schemeClr>
              </a:solidFill>
              <a:ln w="19050">
                <a:solidFill>
                  <a:schemeClr val="lt1"/>
                </a:solidFill>
              </a:ln>
              <a:effectLst/>
            </c:spPr>
            <c:extLst>
              <c:ext xmlns:c16="http://schemas.microsoft.com/office/drawing/2014/chart" uri="{C3380CC4-5D6E-409C-BE32-E72D297353CC}">
                <c16:uniqueId val="{00000005-AA4E-4EFC-9417-B51E04D3B6C4}"/>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ddd!$B$2:$D$2</c:f>
              <c:strCache>
                <c:ptCount val="3"/>
                <c:pt idx="0">
                  <c:v>Total_Matches</c:v>
                </c:pt>
                <c:pt idx="1">
                  <c:v>Toss_Winner_Won_Match</c:v>
                </c:pt>
                <c:pt idx="2">
                  <c:v>Win_Pct</c:v>
                </c:pt>
              </c:strCache>
            </c:strRef>
          </c:cat>
          <c:val>
            <c:numRef>
              <c:f>ddd!$B$3:$D$3</c:f>
              <c:numCache>
                <c:formatCode>General</c:formatCode>
                <c:ptCount val="3"/>
                <c:pt idx="0">
                  <c:v>153</c:v>
                </c:pt>
                <c:pt idx="1">
                  <c:v>85</c:v>
                </c:pt>
                <c:pt idx="2">
                  <c:v>55.56</c:v>
                </c:pt>
              </c:numCache>
            </c:numRef>
          </c:val>
          <c:extLst>
            <c:ext xmlns:c16="http://schemas.microsoft.com/office/drawing/2014/chart" uri="{C3380CC4-5D6E-409C-BE32-E72D297353CC}">
              <c16:uniqueId val="{00000006-AA4E-4EFC-9417-B51E04D3B6C4}"/>
            </c:ext>
          </c:extLst>
        </c:ser>
        <c:dLbls>
          <c:showLegendKey val="0"/>
          <c:showVal val="0"/>
          <c:showCatName val="0"/>
          <c:showSerName val="0"/>
          <c:showPercent val="0"/>
          <c:showBubbleSize val="0"/>
        </c:dLbls>
        <c:gapWidth val="100"/>
        <c:axId val="1866840511"/>
        <c:axId val="606418288"/>
      </c:barChart>
      <c:lineChart>
        <c:grouping val="standard"/>
        <c:varyColors val="0"/>
        <c:ser>
          <c:idx val="1"/>
          <c:order val="1"/>
          <c:tx>
            <c:strRef>
              <c:f>ddd!$A$4</c:f>
              <c:strCache>
                <c:ptCount val="1"/>
                <c:pt idx="0">
                  <c:v>bat</c:v>
                </c:pt>
              </c:strCache>
            </c:strRef>
          </c:tx>
          <c:spPr>
            <a:ln w="28575" cap="rnd">
              <a:solidFill>
                <a:schemeClr val="accent4">
                  <a:shade val="76000"/>
                </a:schemeClr>
              </a:solidFill>
              <a:round/>
            </a:ln>
            <a:effectLst/>
          </c:spPr>
          <c:marker>
            <c:symbol val="none"/>
          </c:marker>
          <c:dPt>
            <c:idx val="0"/>
            <c:marker>
              <c:symbol val="none"/>
            </c:marker>
            <c:bubble3D val="0"/>
            <c:spPr>
              <a:ln w="28575" cap="rnd">
                <a:solidFill>
                  <a:schemeClr val="accent4">
                    <a:shade val="76000"/>
                  </a:schemeClr>
                </a:solidFill>
                <a:round/>
              </a:ln>
              <a:effectLst/>
            </c:spPr>
            <c:extLst>
              <c:ext xmlns:c16="http://schemas.microsoft.com/office/drawing/2014/chart" uri="{C3380CC4-5D6E-409C-BE32-E72D297353CC}">
                <c16:uniqueId val="{00000008-AA4E-4EFC-9417-B51E04D3B6C4}"/>
              </c:ext>
            </c:extLst>
          </c:dPt>
          <c:dPt>
            <c:idx val="1"/>
            <c:marker>
              <c:symbol val="none"/>
            </c:marker>
            <c:bubble3D val="0"/>
            <c:spPr>
              <a:ln w="28575" cap="rnd">
                <a:solidFill>
                  <a:schemeClr val="accent4">
                    <a:shade val="76000"/>
                  </a:schemeClr>
                </a:solidFill>
                <a:round/>
              </a:ln>
              <a:effectLst/>
            </c:spPr>
            <c:extLst>
              <c:ext xmlns:c16="http://schemas.microsoft.com/office/drawing/2014/chart" uri="{C3380CC4-5D6E-409C-BE32-E72D297353CC}">
                <c16:uniqueId val="{0000000A-AA4E-4EFC-9417-B51E04D3B6C4}"/>
              </c:ext>
            </c:extLst>
          </c:dPt>
          <c:dPt>
            <c:idx val="2"/>
            <c:marker>
              <c:symbol val="none"/>
            </c:marker>
            <c:bubble3D val="0"/>
            <c:spPr>
              <a:ln w="28575" cap="rnd">
                <a:solidFill>
                  <a:schemeClr val="accent4">
                    <a:shade val="76000"/>
                  </a:schemeClr>
                </a:solidFill>
                <a:round/>
              </a:ln>
              <a:effectLst/>
            </c:spPr>
            <c:extLst>
              <c:ext xmlns:c16="http://schemas.microsoft.com/office/drawing/2014/chart" uri="{C3380CC4-5D6E-409C-BE32-E72D297353CC}">
                <c16:uniqueId val="{0000000C-AA4E-4EFC-9417-B51E04D3B6C4}"/>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ddd!$B$2:$D$2</c:f>
              <c:strCache>
                <c:ptCount val="3"/>
                <c:pt idx="0">
                  <c:v>Total_Matches</c:v>
                </c:pt>
                <c:pt idx="1">
                  <c:v>Toss_Winner_Won_Match</c:v>
                </c:pt>
                <c:pt idx="2">
                  <c:v>Win_Pct</c:v>
                </c:pt>
              </c:strCache>
            </c:strRef>
          </c:cat>
          <c:val>
            <c:numRef>
              <c:f>ddd!$B$4:$D$4</c:f>
              <c:numCache>
                <c:formatCode>General</c:formatCode>
                <c:ptCount val="3"/>
                <c:pt idx="0">
                  <c:v>100</c:v>
                </c:pt>
                <c:pt idx="1">
                  <c:v>43</c:v>
                </c:pt>
                <c:pt idx="2">
                  <c:v>43</c:v>
                </c:pt>
              </c:numCache>
            </c:numRef>
          </c:val>
          <c:smooth val="0"/>
          <c:extLst>
            <c:ext xmlns:c16="http://schemas.microsoft.com/office/drawing/2014/chart" uri="{C3380CC4-5D6E-409C-BE32-E72D297353CC}">
              <c16:uniqueId val="{0000000D-AA4E-4EFC-9417-B51E04D3B6C4}"/>
            </c:ext>
          </c:extLst>
        </c:ser>
        <c:dLbls>
          <c:showLegendKey val="0"/>
          <c:showVal val="0"/>
          <c:showCatName val="0"/>
          <c:showSerName val="0"/>
          <c:showPercent val="0"/>
          <c:showBubbleSize val="0"/>
        </c:dLbls>
        <c:marker val="1"/>
        <c:smooth val="0"/>
        <c:axId val="1866840511"/>
        <c:axId val="606418288"/>
      </c:lineChart>
      <c:catAx>
        <c:axId val="1866840511"/>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a:t>Toss Winner Won Match </a:t>
                </a:r>
              </a:p>
              <a:p>
                <a:pPr>
                  <a:defRPr/>
                </a:pPr>
                <a:r>
                  <a:rPr lang="en-GB"/>
                  <a:t>Toss Winner Lost Match</a:t>
                </a:r>
              </a:p>
              <a:p>
                <a:pPr>
                  <a:defRPr/>
                </a:pPr>
                <a:endParaRPr lang="en-GB"/>
              </a:p>
            </c:rich>
          </c:tx>
          <c:layout>
            <c:manualLayout>
              <c:xMode val="edge"/>
              <c:yMode val="edge"/>
              <c:x val="0.41275568678915137"/>
              <c:y val="0.7888192621755614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06418288"/>
        <c:crosses val="autoZero"/>
        <c:auto val="1"/>
        <c:lblAlgn val="ctr"/>
        <c:lblOffset val="100"/>
        <c:noMultiLvlLbl val="0"/>
      </c:catAx>
      <c:valAx>
        <c:axId val="606418288"/>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sz="1000" b="0" i="0" u="none" strike="noStrike" baseline="0"/>
                  <a:t>Number of Matches</a:t>
                </a:r>
                <a:endParaRPr lang="en-GB"/>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GB"/>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66840511"/>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400" b="0" i="0" u="none" strike="noStrike" baseline="0"/>
              <a:t>Top Players Recommended for RCB</a:t>
            </a:r>
            <a:endParaRPr lang="en-GB"/>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manualLayout>
          <c:layoutTarget val="inner"/>
          <c:xMode val="edge"/>
          <c:yMode val="edge"/>
          <c:x val="0.22962041946229997"/>
          <c:y val="0.15416478973705464"/>
          <c:w val="0.70530943555576409"/>
          <c:h val="0.75972660424232918"/>
        </c:manualLayout>
      </c:layout>
      <c:barChart>
        <c:barDir val="bar"/>
        <c:grouping val="clustered"/>
        <c:varyColors val="0"/>
        <c:ser>
          <c:idx val="0"/>
          <c:order val="0"/>
          <c:tx>
            <c:strRef>
              <c:f>cc!$B$2</c:f>
              <c:strCache>
                <c:ptCount val="1"/>
                <c:pt idx="0">
                  <c:v>Total_Runs</c:v>
                </c:pt>
              </c:strCache>
            </c:strRef>
          </c:tx>
          <c:spPr>
            <a:solidFill>
              <a:schemeClr val="accent2">
                <a:shade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cc!$A$3:$A$8</c:f>
              <c:strCache>
                <c:ptCount val="6"/>
                <c:pt idx="0">
                  <c:v>JH Kallis</c:v>
                </c:pt>
                <c:pt idx="1">
                  <c:v>A Mishra</c:v>
                </c:pt>
                <c:pt idx="2">
                  <c:v>NLTC Perera</c:v>
                </c:pt>
                <c:pt idx="3">
                  <c:v>CH Gayle</c:v>
                </c:pt>
                <c:pt idx="4">
                  <c:v>RA Jadeja</c:v>
                </c:pt>
                <c:pt idx="5">
                  <c:v>KA Pollard</c:v>
                </c:pt>
              </c:strCache>
            </c:strRef>
          </c:cat>
          <c:val>
            <c:numRef>
              <c:f>cc!$B$3:$B$8</c:f>
              <c:numCache>
                <c:formatCode>General</c:formatCode>
                <c:ptCount val="6"/>
                <c:pt idx="0">
                  <c:v>155</c:v>
                </c:pt>
                <c:pt idx="1">
                  <c:v>83</c:v>
                </c:pt>
                <c:pt idx="2">
                  <c:v>106</c:v>
                </c:pt>
                <c:pt idx="3">
                  <c:v>448</c:v>
                </c:pt>
                <c:pt idx="4">
                  <c:v>118</c:v>
                </c:pt>
                <c:pt idx="5">
                  <c:v>147</c:v>
                </c:pt>
              </c:numCache>
            </c:numRef>
          </c:val>
          <c:extLst>
            <c:ext xmlns:c16="http://schemas.microsoft.com/office/drawing/2014/chart" uri="{C3380CC4-5D6E-409C-BE32-E72D297353CC}">
              <c16:uniqueId val="{00000000-8939-4CBA-9C92-AB4D29DE7595}"/>
            </c:ext>
          </c:extLst>
        </c:ser>
        <c:ser>
          <c:idx val="1"/>
          <c:order val="1"/>
          <c:tx>
            <c:strRef>
              <c:f>cc!$C$2</c:f>
              <c:strCache>
                <c:ptCount val="1"/>
                <c:pt idx="0">
                  <c:v>Total_Wickets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cc!$A$3:$A$8</c:f>
              <c:strCache>
                <c:ptCount val="6"/>
                <c:pt idx="0">
                  <c:v>JH Kallis</c:v>
                </c:pt>
                <c:pt idx="1">
                  <c:v>A Mishra</c:v>
                </c:pt>
                <c:pt idx="2">
                  <c:v>NLTC Perera</c:v>
                </c:pt>
                <c:pt idx="3">
                  <c:v>CH Gayle</c:v>
                </c:pt>
                <c:pt idx="4">
                  <c:v>RA Jadeja</c:v>
                </c:pt>
                <c:pt idx="5">
                  <c:v>KA Pollard</c:v>
                </c:pt>
              </c:strCache>
            </c:strRef>
          </c:cat>
          <c:val>
            <c:numRef>
              <c:f>cc!$C$3:$C$8</c:f>
              <c:numCache>
                <c:formatCode>General</c:formatCode>
                <c:ptCount val="6"/>
                <c:pt idx="0">
                  <c:v>9</c:v>
                </c:pt>
                <c:pt idx="1">
                  <c:v>14</c:v>
                </c:pt>
                <c:pt idx="2">
                  <c:v>9</c:v>
                </c:pt>
                <c:pt idx="3">
                  <c:v>2</c:v>
                </c:pt>
                <c:pt idx="4">
                  <c:v>6</c:v>
                </c:pt>
                <c:pt idx="5">
                  <c:v>5</c:v>
                </c:pt>
              </c:numCache>
            </c:numRef>
          </c:val>
          <c:extLst>
            <c:ext xmlns:c16="http://schemas.microsoft.com/office/drawing/2014/chart" uri="{C3380CC4-5D6E-409C-BE32-E72D297353CC}">
              <c16:uniqueId val="{00000001-8939-4CBA-9C92-AB4D29DE7595}"/>
            </c:ext>
          </c:extLst>
        </c:ser>
        <c:ser>
          <c:idx val="2"/>
          <c:order val="2"/>
          <c:tx>
            <c:strRef>
              <c:f>cc!$D$2</c:f>
              <c:strCache>
                <c:ptCount val="1"/>
                <c:pt idx="0">
                  <c:v>Player_Score</c:v>
                </c:pt>
              </c:strCache>
            </c:strRef>
          </c:tx>
          <c:spPr>
            <a:solidFill>
              <a:schemeClr val="accent2">
                <a:tint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cc!$A$3:$A$8</c:f>
              <c:strCache>
                <c:ptCount val="6"/>
                <c:pt idx="0">
                  <c:v>JH Kallis</c:v>
                </c:pt>
                <c:pt idx="1">
                  <c:v>A Mishra</c:v>
                </c:pt>
                <c:pt idx="2">
                  <c:v>NLTC Perera</c:v>
                </c:pt>
                <c:pt idx="3">
                  <c:v>CH Gayle</c:v>
                </c:pt>
                <c:pt idx="4">
                  <c:v>RA Jadeja</c:v>
                </c:pt>
                <c:pt idx="5">
                  <c:v>KA Pollard</c:v>
                </c:pt>
              </c:strCache>
            </c:strRef>
          </c:cat>
          <c:val>
            <c:numRef>
              <c:f>cc!$D$3:$D$8</c:f>
              <c:numCache>
                <c:formatCode>General</c:formatCode>
                <c:ptCount val="6"/>
                <c:pt idx="0">
                  <c:v>89.07</c:v>
                </c:pt>
                <c:pt idx="1">
                  <c:v>83.77</c:v>
                </c:pt>
                <c:pt idx="2">
                  <c:v>83.77</c:v>
                </c:pt>
                <c:pt idx="3">
                  <c:v>80.790000000000006</c:v>
                </c:pt>
                <c:pt idx="4">
                  <c:v>80.13</c:v>
                </c:pt>
                <c:pt idx="5">
                  <c:v>80.13</c:v>
                </c:pt>
              </c:numCache>
            </c:numRef>
          </c:val>
          <c:extLst>
            <c:ext xmlns:c16="http://schemas.microsoft.com/office/drawing/2014/chart" uri="{C3380CC4-5D6E-409C-BE32-E72D297353CC}">
              <c16:uniqueId val="{00000002-8939-4CBA-9C92-AB4D29DE7595}"/>
            </c:ext>
          </c:extLst>
        </c:ser>
        <c:dLbls>
          <c:dLblPos val="outEnd"/>
          <c:showLegendKey val="0"/>
          <c:showVal val="1"/>
          <c:showCatName val="0"/>
          <c:showSerName val="0"/>
          <c:showPercent val="0"/>
          <c:showBubbleSize val="0"/>
        </c:dLbls>
        <c:gapWidth val="182"/>
        <c:axId val="1199508512"/>
        <c:axId val="1009871216"/>
      </c:barChart>
      <c:catAx>
        <c:axId val="1199508512"/>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a:t>Player</a:t>
                </a:r>
                <a:r>
                  <a:rPr lang="en-GB" baseline="0"/>
                  <a:t> Name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09871216"/>
        <c:crosses val="autoZero"/>
        <c:auto val="1"/>
        <c:lblAlgn val="ctr"/>
        <c:lblOffset val="100"/>
        <c:noMultiLvlLbl val="0"/>
      </c:catAx>
      <c:valAx>
        <c:axId val="100987121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a:t>Player</a:t>
                </a:r>
                <a:r>
                  <a:rPr lang="en-GB" baseline="0"/>
                  <a:t> Score</a:t>
                </a:r>
                <a:endParaRPr lang="en-GB"/>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950851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400" b="0" i="0" u="none" strike="noStrike" baseline="0"/>
              <a:t>Top Players by Total Runs</a:t>
            </a:r>
            <a:endParaRPr lang="en-GB"/>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radarChart>
        <c:radarStyle val="marker"/>
        <c:varyColors val="0"/>
        <c:ser>
          <c:idx val="0"/>
          <c:order val="0"/>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'cccC++++'!$A$2:$A$11</c:f>
              <c:strCache>
                <c:ptCount val="10"/>
                <c:pt idx="0">
                  <c:v>Player_Name</c:v>
                </c:pt>
                <c:pt idx="1">
                  <c:v>CH Gayle</c:v>
                </c:pt>
                <c:pt idx="2">
                  <c:v>MEK Hussey</c:v>
                </c:pt>
                <c:pt idx="3">
                  <c:v>G Gambhir</c:v>
                </c:pt>
                <c:pt idx="4">
                  <c:v>SR Watson</c:v>
                </c:pt>
                <c:pt idx="5">
                  <c:v>KD Karthik</c:v>
                </c:pt>
                <c:pt idx="6">
                  <c:v>RG Sharma</c:v>
                </c:pt>
                <c:pt idx="7">
                  <c:v>V Kohli</c:v>
                </c:pt>
                <c:pt idx="8">
                  <c:v>EJG Morgan</c:v>
                </c:pt>
                <c:pt idx="9">
                  <c:v>MS Dhoni</c:v>
                </c:pt>
              </c:strCache>
            </c:strRef>
          </c:cat>
          <c:val>
            <c:numRef>
              <c:f>'cccC++++'!$B$2:$B$11</c:f>
              <c:numCache>
                <c:formatCode>General</c:formatCode>
                <c:ptCount val="10"/>
                <c:pt idx="0">
                  <c:v>0</c:v>
                </c:pt>
                <c:pt idx="1">
                  <c:v>8</c:v>
                </c:pt>
                <c:pt idx="2">
                  <c:v>7</c:v>
                </c:pt>
                <c:pt idx="3">
                  <c:v>8</c:v>
                </c:pt>
                <c:pt idx="4">
                  <c:v>6</c:v>
                </c:pt>
                <c:pt idx="5">
                  <c:v>8</c:v>
                </c:pt>
                <c:pt idx="6">
                  <c:v>7</c:v>
                </c:pt>
                <c:pt idx="7">
                  <c:v>7</c:v>
                </c:pt>
                <c:pt idx="8">
                  <c:v>8</c:v>
                </c:pt>
                <c:pt idx="9">
                  <c:v>7</c:v>
                </c:pt>
              </c:numCache>
            </c:numRef>
          </c:val>
          <c:extLst>
            <c:ext xmlns:c16="http://schemas.microsoft.com/office/drawing/2014/chart" uri="{C3380CC4-5D6E-409C-BE32-E72D297353CC}">
              <c16:uniqueId val="{00000000-5485-4A60-8A64-3ADFB3E2A2B3}"/>
            </c:ext>
          </c:extLst>
        </c:ser>
        <c:ser>
          <c:idx val="1"/>
          <c:order val="1"/>
          <c:spPr>
            <a:ln w="28575" cap="rnd">
              <a:solidFill>
                <a:schemeClr val="accent2"/>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'cccC++++'!$A$2:$A$11</c:f>
              <c:strCache>
                <c:ptCount val="10"/>
                <c:pt idx="0">
                  <c:v>Player_Name</c:v>
                </c:pt>
                <c:pt idx="1">
                  <c:v>CH Gayle</c:v>
                </c:pt>
                <c:pt idx="2">
                  <c:v>MEK Hussey</c:v>
                </c:pt>
                <c:pt idx="3">
                  <c:v>G Gambhir</c:v>
                </c:pt>
                <c:pt idx="4">
                  <c:v>SR Watson</c:v>
                </c:pt>
                <c:pt idx="5">
                  <c:v>KD Karthik</c:v>
                </c:pt>
                <c:pt idx="6">
                  <c:v>RG Sharma</c:v>
                </c:pt>
                <c:pt idx="7">
                  <c:v>V Kohli</c:v>
                </c:pt>
                <c:pt idx="8">
                  <c:v>EJG Morgan</c:v>
                </c:pt>
                <c:pt idx="9">
                  <c:v>MS Dhoni</c:v>
                </c:pt>
              </c:strCache>
            </c:strRef>
          </c:cat>
          <c:val>
            <c:numRef>
              <c:f>'cccC++++'!$C$2:$C$11</c:f>
              <c:numCache>
                <c:formatCode>General</c:formatCode>
                <c:ptCount val="10"/>
                <c:pt idx="0">
                  <c:v>0</c:v>
                </c:pt>
                <c:pt idx="1">
                  <c:v>448</c:v>
                </c:pt>
                <c:pt idx="2">
                  <c:v>350</c:v>
                </c:pt>
                <c:pt idx="3">
                  <c:v>294</c:v>
                </c:pt>
                <c:pt idx="4">
                  <c:v>273</c:v>
                </c:pt>
                <c:pt idx="5">
                  <c:v>265</c:v>
                </c:pt>
                <c:pt idx="6">
                  <c:v>264</c:v>
                </c:pt>
                <c:pt idx="7">
                  <c:v>245</c:v>
                </c:pt>
                <c:pt idx="8">
                  <c:v>236</c:v>
                </c:pt>
                <c:pt idx="9">
                  <c:v>235</c:v>
                </c:pt>
              </c:numCache>
            </c:numRef>
          </c:val>
          <c:extLst>
            <c:ext xmlns:c16="http://schemas.microsoft.com/office/drawing/2014/chart" uri="{C3380CC4-5D6E-409C-BE32-E72D297353CC}">
              <c16:uniqueId val="{00000001-5485-4A60-8A64-3ADFB3E2A2B3}"/>
            </c:ext>
          </c:extLst>
        </c:ser>
        <c:ser>
          <c:idx val="2"/>
          <c:order val="2"/>
          <c:spPr>
            <a:ln w="28575" cap="rnd">
              <a:solidFill>
                <a:schemeClr val="accent3"/>
              </a:solidFill>
              <a:round/>
            </a:ln>
            <a:effectLst/>
          </c:spPr>
          <c:marker>
            <c:symbol val="circle"/>
            <c:size val="5"/>
            <c:spPr>
              <a:solidFill>
                <a:schemeClr val="accent3"/>
              </a:solidFill>
              <a:ln w="9525">
                <a:solidFill>
                  <a:schemeClr val="accent3"/>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'cccC++++'!$A$2:$A$11</c:f>
              <c:strCache>
                <c:ptCount val="10"/>
                <c:pt idx="0">
                  <c:v>Player_Name</c:v>
                </c:pt>
                <c:pt idx="1">
                  <c:v>CH Gayle</c:v>
                </c:pt>
                <c:pt idx="2">
                  <c:v>MEK Hussey</c:v>
                </c:pt>
                <c:pt idx="3">
                  <c:v>G Gambhir</c:v>
                </c:pt>
                <c:pt idx="4">
                  <c:v>SR Watson</c:v>
                </c:pt>
                <c:pt idx="5">
                  <c:v>KD Karthik</c:v>
                </c:pt>
                <c:pt idx="6">
                  <c:v>RG Sharma</c:v>
                </c:pt>
                <c:pt idx="7">
                  <c:v>V Kohli</c:v>
                </c:pt>
                <c:pt idx="8">
                  <c:v>EJG Morgan</c:v>
                </c:pt>
                <c:pt idx="9">
                  <c:v>MS Dhoni</c:v>
                </c:pt>
              </c:strCache>
            </c:strRef>
          </c:cat>
          <c:val>
            <c:numRef>
              <c:f>'cccC++++'!$D$2:$D$11</c:f>
              <c:numCache>
                <c:formatCode>General</c:formatCode>
                <c:ptCount val="10"/>
                <c:pt idx="0">
                  <c:v>0</c:v>
                </c:pt>
                <c:pt idx="1">
                  <c:v>6</c:v>
                </c:pt>
                <c:pt idx="2">
                  <c:v>0</c:v>
                </c:pt>
                <c:pt idx="3">
                  <c:v>0</c:v>
                </c:pt>
                <c:pt idx="4">
                  <c:v>36</c:v>
                </c:pt>
                <c:pt idx="5">
                  <c:v>0</c:v>
                </c:pt>
                <c:pt idx="6">
                  <c:v>0</c:v>
                </c:pt>
                <c:pt idx="7">
                  <c:v>0</c:v>
                </c:pt>
                <c:pt idx="8">
                  <c:v>0</c:v>
                </c:pt>
                <c:pt idx="9">
                  <c:v>0</c:v>
                </c:pt>
              </c:numCache>
            </c:numRef>
          </c:val>
          <c:extLst>
            <c:ext xmlns:c16="http://schemas.microsoft.com/office/drawing/2014/chart" uri="{C3380CC4-5D6E-409C-BE32-E72D297353CC}">
              <c16:uniqueId val="{00000002-5485-4A60-8A64-3ADFB3E2A2B3}"/>
            </c:ext>
          </c:extLst>
        </c:ser>
        <c:ser>
          <c:idx val="3"/>
          <c:order val="3"/>
          <c:spPr>
            <a:ln w="28575" cap="rnd">
              <a:solidFill>
                <a:schemeClr val="accent4"/>
              </a:solidFill>
              <a:round/>
            </a:ln>
            <a:effectLst/>
          </c:spPr>
          <c:marker>
            <c:symbol val="circle"/>
            <c:size val="5"/>
            <c:spPr>
              <a:solidFill>
                <a:schemeClr val="accent4"/>
              </a:solidFill>
              <a:ln w="9525">
                <a:solidFill>
                  <a:schemeClr val="accent4"/>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'cccC++++'!$A$2:$A$11</c:f>
              <c:strCache>
                <c:ptCount val="10"/>
                <c:pt idx="0">
                  <c:v>Player_Name</c:v>
                </c:pt>
                <c:pt idx="1">
                  <c:v>CH Gayle</c:v>
                </c:pt>
                <c:pt idx="2">
                  <c:v>MEK Hussey</c:v>
                </c:pt>
                <c:pt idx="3">
                  <c:v>G Gambhir</c:v>
                </c:pt>
                <c:pt idx="4">
                  <c:v>SR Watson</c:v>
                </c:pt>
                <c:pt idx="5">
                  <c:v>KD Karthik</c:v>
                </c:pt>
                <c:pt idx="6">
                  <c:v>RG Sharma</c:v>
                </c:pt>
                <c:pt idx="7">
                  <c:v>V Kohli</c:v>
                </c:pt>
                <c:pt idx="8">
                  <c:v>EJG Morgan</c:v>
                </c:pt>
                <c:pt idx="9">
                  <c:v>MS Dhoni</c:v>
                </c:pt>
              </c:strCache>
            </c:strRef>
          </c:cat>
          <c:val>
            <c:numRef>
              <c:f>'cccC++++'!$E$2:$E$11</c:f>
              <c:numCache>
                <c:formatCode>General</c:formatCode>
                <c:ptCount val="10"/>
              </c:numCache>
            </c:numRef>
          </c:val>
          <c:extLst>
            <c:ext xmlns:c16="http://schemas.microsoft.com/office/drawing/2014/chart" uri="{C3380CC4-5D6E-409C-BE32-E72D297353CC}">
              <c16:uniqueId val="{00000003-5485-4A60-8A64-3ADFB3E2A2B3}"/>
            </c:ext>
          </c:extLst>
        </c:ser>
        <c:dLbls>
          <c:showLegendKey val="0"/>
          <c:showVal val="1"/>
          <c:showCatName val="0"/>
          <c:showSerName val="0"/>
          <c:showPercent val="0"/>
          <c:showBubbleSize val="0"/>
        </c:dLbls>
        <c:axId val="1335715807"/>
        <c:axId val="955035823"/>
      </c:radarChart>
      <c:catAx>
        <c:axId val="13357158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55035823"/>
        <c:crosses val="autoZero"/>
        <c:auto val="1"/>
        <c:lblAlgn val="ctr"/>
        <c:lblOffset val="100"/>
        <c:noMultiLvlLbl val="0"/>
      </c:catAx>
      <c:valAx>
        <c:axId val="955035823"/>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5715807"/>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Reversed" id="24">
  <a:schemeClr val="accent4"/>
</cs:colorStyle>
</file>

<file path=ppt/charts/colors4.xml><?xml version="1.0" encoding="utf-8"?>
<cs:colorStyle xmlns:cs="http://schemas.microsoft.com/office/drawing/2012/chartStyle" xmlns:a="http://schemas.openxmlformats.org/drawingml/2006/main" meth="withinLinear" id="15">
  <a:schemeClr val="accent2"/>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1">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A1BAF1-188F-445B-82E2-BCD39EA9FDCD}"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C15484-9B75-4291-85F8-B83E96EDD9FD}" type="slidenum">
              <a:rPr lang="en-IN" smtClean="0"/>
              <a:t>‹#›</a:t>
            </a:fld>
            <a:endParaRPr lang="en-IN"/>
          </a:p>
        </p:txBody>
      </p:sp>
    </p:spTree>
    <p:extLst>
      <p:ext uri="{BB962C8B-B14F-4D97-AF65-F5344CB8AC3E}">
        <p14:creationId xmlns:p14="http://schemas.microsoft.com/office/powerpoint/2010/main" val="2998503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CC15484-9B75-4291-85F8-B83E96EDD9FD}" type="slidenum">
              <a:rPr lang="en-IN" smtClean="0"/>
              <a:t>5</a:t>
            </a:fld>
            <a:endParaRPr lang="en-IN"/>
          </a:p>
        </p:txBody>
      </p:sp>
    </p:spTree>
    <p:extLst>
      <p:ext uri="{BB962C8B-B14F-4D97-AF65-F5344CB8AC3E}">
        <p14:creationId xmlns:p14="http://schemas.microsoft.com/office/powerpoint/2010/main" val="39377134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192CD-7D61-F734-ECEE-6B72024C456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2AFAB644-912B-19C1-A8AC-F1187631E4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3621EC55-DE7E-8A5E-BFB1-7E8459426331}"/>
              </a:ext>
            </a:extLst>
          </p:cNvPr>
          <p:cNvSpPr>
            <a:spLocks noGrp="1"/>
          </p:cNvSpPr>
          <p:nvPr>
            <p:ph type="dt" sz="half" idx="10"/>
          </p:nvPr>
        </p:nvSpPr>
        <p:spPr/>
        <p:txBody>
          <a:bodyPr/>
          <a:lstStyle/>
          <a:p>
            <a:fld id="{B11A594A-FA0E-4037-8B5A-8F5000593081}" type="datetimeFigureOut">
              <a:rPr lang="en-IN" smtClean="0"/>
              <a:t>08-09-2026</a:t>
            </a:fld>
            <a:endParaRPr lang="en-IN"/>
          </a:p>
        </p:txBody>
      </p:sp>
      <p:sp>
        <p:nvSpPr>
          <p:cNvPr id="5" name="Footer Placeholder 4">
            <a:extLst>
              <a:ext uri="{FF2B5EF4-FFF2-40B4-BE49-F238E27FC236}">
                <a16:creationId xmlns:a16="http://schemas.microsoft.com/office/drawing/2014/main" id="{B514D9DE-52FB-9432-510B-0DED5A4D01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E6A0D1-FECA-3C0C-66F5-A50D00A2061E}"/>
              </a:ext>
            </a:extLst>
          </p:cNvPr>
          <p:cNvSpPr>
            <a:spLocks noGrp="1"/>
          </p:cNvSpPr>
          <p:nvPr>
            <p:ph type="sldNum" sz="quarter" idx="12"/>
          </p:nvPr>
        </p:nvSpPr>
        <p:spPr/>
        <p:txBody>
          <a:bodyPr/>
          <a:lstStyle/>
          <a:p>
            <a:fld id="{A974A1E6-F0F5-445B-88CC-C3FDDBD19148}" type="slidenum">
              <a:rPr lang="en-IN" smtClean="0"/>
              <a:t>‹#›</a:t>
            </a:fld>
            <a:endParaRPr lang="en-IN"/>
          </a:p>
        </p:txBody>
      </p:sp>
    </p:spTree>
    <p:extLst>
      <p:ext uri="{BB962C8B-B14F-4D97-AF65-F5344CB8AC3E}">
        <p14:creationId xmlns:p14="http://schemas.microsoft.com/office/powerpoint/2010/main" val="2783184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D52A8-78D0-9DE0-C06D-CC7C402F4717}"/>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7E72D25B-E732-B877-582C-CE008D5CB04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8ED4B802-02B2-554D-C4F7-87A057449BA9}"/>
              </a:ext>
            </a:extLst>
          </p:cNvPr>
          <p:cNvSpPr>
            <a:spLocks noGrp="1"/>
          </p:cNvSpPr>
          <p:nvPr>
            <p:ph type="dt" sz="half" idx="10"/>
          </p:nvPr>
        </p:nvSpPr>
        <p:spPr/>
        <p:txBody>
          <a:bodyPr/>
          <a:lstStyle/>
          <a:p>
            <a:fld id="{B11A594A-FA0E-4037-8B5A-8F5000593081}" type="datetimeFigureOut">
              <a:rPr lang="en-IN" smtClean="0"/>
              <a:t>08-09-2026</a:t>
            </a:fld>
            <a:endParaRPr lang="en-IN"/>
          </a:p>
        </p:txBody>
      </p:sp>
      <p:sp>
        <p:nvSpPr>
          <p:cNvPr id="5" name="Footer Placeholder 4">
            <a:extLst>
              <a:ext uri="{FF2B5EF4-FFF2-40B4-BE49-F238E27FC236}">
                <a16:creationId xmlns:a16="http://schemas.microsoft.com/office/drawing/2014/main" id="{7E4EB532-ADCC-346E-0EBB-D06764F10E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F82756-7674-824B-FDE4-E851432DA5F2}"/>
              </a:ext>
            </a:extLst>
          </p:cNvPr>
          <p:cNvSpPr>
            <a:spLocks noGrp="1"/>
          </p:cNvSpPr>
          <p:nvPr>
            <p:ph type="sldNum" sz="quarter" idx="12"/>
          </p:nvPr>
        </p:nvSpPr>
        <p:spPr/>
        <p:txBody>
          <a:bodyPr/>
          <a:lstStyle/>
          <a:p>
            <a:fld id="{A974A1E6-F0F5-445B-88CC-C3FDDBD19148}" type="slidenum">
              <a:rPr lang="en-IN" smtClean="0"/>
              <a:t>‹#›</a:t>
            </a:fld>
            <a:endParaRPr lang="en-IN"/>
          </a:p>
        </p:txBody>
      </p:sp>
    </p:spTree>
    <p:extLst>
      <p:ext uri="{BB962C8B-B14F-4D97-AF65-F5344CB8AC3E}">
        <p14:creationId xmlns:p14="http://schemas.microsoft.com/office/powerpoint/2010/main" val="3360221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D8D80-9438-84E9-DE0A-984BACB3FBE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25349544-4B1F-D522-125C-EE006A3D38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AB41208-85C9-BE52-1262-573183FFA313}"/>
              </a:ext>
            </a:extLst>
          </p:cNvPr>
          <p:cNvSpPr>
            <a:spLocks noGrp="1"/>
          </p:cNvSpPr>
          <p:nvPr>
            <p:ph type="dt" sz="half" idx="10"/>
          </p:nvPr>
        </p:nvSpPr>
        <p:spPr/>
        <p:txBody>
          <a:bodyPr/>
          <a:lstStyle/>
          <a:p>
            <a:fld id="{B11A594A-FA0E-4037-8B5A-8F5000593081}" type="datetimeFigureOut">
              <a:rPr lang="en-IN" smtClean="0"/>
              <a:t>08-09-2026</a:t>
            </a:fld>
            <a:endParaRPr lang="en-IN"/>
          </a:p>
        </p:txBody>
      </p:sp>
      <p:sp>
        <p:nvSpPr>
          <p:cNvPr id="5" name="Footer Placeholder 4">
            <a:extLst>
              <a:ext uri="{FF2B5EF4-FFF2-40B4-BE49-F238E27FC236}">
                <a16:creationId xmlns:a16="http://schemas.microsoft.com/office/drawing/2014/main" id="{2DE4F964-B705-D20E-BB0B-2217A6F63B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2A5D38-7198-7767-04B1-F827EFFDBCFF}"/>
              </a:ext>
            </a:extLst>
          </p:cNvPr>
          <p:cNvSpPr>
            <a:spLocks noGrp="1"/>
          </p:cNvSpPr>
          <p:nvPr>
            <p:ph type="sldNum" sz="quarter" idx="12"/>
          </p:nvPr>
        </p:nvSpPr>
        <p:spPr/>
        <p:txBody>
          <a:bodyPr/>
          <a:lstStyle/>
          <a:p>
            <a:fld id="{A974A1E6-F0F5-445B-88CC-C3FDDBD19148}" type="slidenum">
              <a:rPr lang="en-IN" smtClean="0"/>
              <a:t>‹#›</a:t>
            </a:fld>
            <a:endParaRPr lang="en-IN"/>
          </a:p>
        </p:txBody>
      </p:sp>
    </p:spTree>
    <p:extLst>
      <p:ext uri="{BB962C8B-B14F-4D97-AF65-F5344CB8AC3E}">
        <p14:creationId xmlns:p14="http://schemas.microsoft.com/office/powerpoint/2010/main" val="27355943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0F419-81AC-831C-9378-D75E78C12407}"/>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B58C4C92-6036-0F17-D1E3-01F8E11063A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2DC372D5-FD14-3DA5-76B8-F7D9CDA811A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C68AAC71-05C0-1E16-01A9-47B277EC7212}"/>
              </a:ext>
            </a:extLst>
          </p:cNvPr>
          <p:cNvSpPr>
            <a:spLocks noGrp="1"/>
          </p:cNvSpPr>
          <p:nvPr>
            <p:ph type="dt" sz="half" idx="10"/>
          </p:nvPr>
        </p:nvSpPr>
        <p:spPr/>
        <p:txBody>
          <a:bodyPr/>
          <a:lstStyle/>
          <a:p>
            <a:fld id="{B11A594A-FA0E-4037-8B5A-8F5000593081}" type="datetimeFigureOut">
              <a:rPr lang="en-IN" smtClean="0"/>
              <a:t>08-09-2026</a:t>
            </a:fld>
            <a:endParaRPr lang="en-IN"/>
          </a:p>
        </p:txBody>
      </p:sp>
      <p:sp>
        <p:nvSpPr>
          <p:cNvPr id="6" name="Footer Placeholder 5">
            <a:extLst>
              <a:ext uri="{FF2B5EF4-FFF2-40B4-BE49-F238E27FC236}">
                <a16:creationId xmlns:a16="http://schemas.microsoft.com/office/drawing/2014/main" id="{1EA33697-48B3-DB1B-F968-5728B6946F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6C76BA-D9F0-026A-C19D-234D2DAB8B90}"/>
              </a:ext>
            </a:extLst>
          </p:cNvPr>
          <p:cNvSpPr>
            <a:spLocks noGrp="1"/>
          </p:cNvSpPr>
          <p:nvPr>
            <p:ph type="sldNum" sz="quarter" idx="12"/>
          </p:nvPr>
        </p:nvSpPr>
        <p:spPr/>
        <p:txBody>
          <a:bodyPr/>
          <a:lstStyle/>
          <a:p>
            <a:fld id="{A974A1E6-F0F5-445B-88CC-C3FDDBD19148}" type="slidenum">
              <a:rPr lang="en-IN" smtClean="0"/>
              <a:t>‹#›</a:t>
            </a:fld>
            <a:endParaRPr lang="en-IN"/>
          </a:p>
        </p:txBody>
      </p:sp>
    </p:spTree>
    <p:extLst>
      <p:ext uri="{BB962C8B-B14F-4D97-AF65-F5344CB8AC3E}">
        <p14:creationId xmlns:p14="http://schemas.microsoft.com/office/powerpoint/2010/main" val="27078371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C7AF8-F491-D607-3AFF-BD4B1B81DDF7}"/>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09A5179C-ED00-0987-6FC3-793BAD8098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80DAB52-49B8-AAE0-88C8-570C2ABFC8E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188935F2-7B1B-2DDF-879E-93FB808931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768B628-1010-93FC-77A4-B23EC5D2C5E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15CDAAB3-8C61-F89F-F8FD-D6D0CC396698}"/>
              </a:ext>
            </a:extLst>
          </p:cNvPr>
          <p:cNvSpPr>
            <a:spLocks noGrp="1"/>
          </p:cNvSpPr>
          <p:nvPr>
            <p:ph type="dt" sz="half" idx="10"/>
          </p:nvPr>
        </p:nvSpPr>
        <p:spPr/>
        <p:txBody>
          <a:bodyPr/>
          <a:lstStyle/>
          <a:p>
            <a:fld id="{B11A594A-FA0E-4037-8B5A-8F5000593081}" type="datetimeFigureOut">
              <a:rPr lang="en-IN" smtClean="0"/>
              <a:t>08-09-2026</a:t>
            </a:fld>
            <a:endParaRPr lang="en-IN"/>
          </a:p>
        </p:txBody>
      </p:sp>
      <p:sp>
        <p:nvSpPr>
          <p:cNvPr id="8" name="Footer Placeholder 7">
            <a:extLst>
              <a:ext uri="{FF2B5EF4-FFF2-40B4-BE49-F238E27FC236}">
                <a16:creationId xmlns:a16="http://schemas.microsoft.com/office/drawing/2014/main" id="{CAFFEFB2-3833-FBA6-C00A-FA5EC040FD9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6BF445B-20CC-3490-D9A6-525FE4107680}"/>
              </a:ext>
            </a:extLst>
          </p:cNvPr>
          <p:cNvSpPr>
            <a:spLocks noGrp="1"/>
          </p:cNvSpPr>
          <p:nvPr>
            <p:ph type="sldNum" sz="quarter" idx="12"/>
          </p:nvPr>
        </p:nvSpPr>
        <p:spPr/>
        <p:txBody>
          <a:bodyPr/>
          <a:lstStyle/>
          <a:p>
            <a:fld id="{A974A1E6-F0F5-445B-88CC-C3FDDBD19148}" type="slidenum">
              <a:rPr lang="en-IN" smtClean="0"/>
              <a:t>‹#›</a:t>
            </a:fld>
            <a:endParaRPr lang="en-IN"/>
          </a:p>
        </p:txBody>
      </p:sp>
    </p:spTree>
    <p:extLst>
      <p:ext uri="{BB962C8B-B14F-4D97-AF65-F5344CB8AC3E}">
        <p14:creationId xmlns:p14="http://schemas.microsoft.com/office/powerpoint/2010/main" val="1583828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F7465-F800-36D7-2E78-F6290349442C}"/>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55B0E42C-6F1F-0A37-5D2A-02CCAC3132F5}"/>
              </a:ext>
            </a:extLst>
          </p:cNvPr>
          <p:cNvSpPr>
            <a:spLocks noGrp="1"/>
          </p:cNvSpPr>
          <p:nvPr>
            <p:ph type="dt" sz="half" idx="10"/>
          </p:nvPr>
        </p:nvSpPr>
        <p:spPr/>
        <p:txBody>
          <a:bodyPr/>
          <a:lstStyle/>
          <a:p>
            <a:fld id="{B11A594A-FA0E-4037-8B5A-8F5000593081}" type="datetimeFigureOut">
              <a:rPr lang="en-IN" smtClean="0"/>
              <a:t>08-09-2026</a:t>
            </a:fld>
            <a:endParaRPr lang="en-IN"/>
          </a:p>
        </p:txBody>
      </p:sp>
      <p:sp>
        <p:nvSpPr>
          <p:cNvPr id="4" name="Footer Placeholder 3">
            <a:extLst>
              <a:ext uri="{FF2B5EF4-FFF2-40B4-BE49-F238E27FC236}">
                <a16:creationId xmlns:a16="http://schemas.microsoft.com/office/drawing/2014/main" id="{7F125182-3EC4-F76A-B5CA-2D568BA8A92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D0438BB-44B0-4090-5A04-714DAA2B3FD6}"/>
              </a:ext>
            </a:extLst>
          </p:cNvPr>
          <p:cNvSpPr>
            <a:spLocks noGrp="1"/>
          </p:cNvSpPr>
          <p:nvPr>
            <p:ph type="sldNum" sz="quarter" idx="12"/>
          </p:nvPr>
        </p:nvSpPr>
        <p:spPr/>
        <p:txBody>
          <a:bodyPr/>
          <a:lstStyle/>
          <a:p>
            <a:fld id="{A974A1E6-F0F5-445B-88CC-C3FDDBD19148}" type="slidenum">
              <a:rPr lang="en-IN" smtClean="0"/>
              <a:t>‹#›</a:t>
            </a:fld>
            <a:endParaRPr lang="en-IN"/>
          </a:p>
        </p:txBody>
      </p:sp>
    </p:spTree>
    <p:extLst>
      <p:ext uri="{BB962C8B-B14F-4D97-AF65-F5344CB8AC3E}">
        <p14:creationId xmlns:p14="http://schemas.microsoft.com/office/powerpoint/2010/main" val="2122088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63950E-A538-56A9-28D4-DD289BA54D34}"/>
              </a:ext>
            </a:extLst>
          </p:cNvPr>
          <p:cNvSpPr>
            <a:spLocks noGrp="1"/>
          </p:cNvSpPr>
          <p:nvPr>
            <p:ph type="dt" sz="half" idx="10"/>
          </p:nvPr>
        </p:nvSpPr>
        <p:spPr/>
        <p:txBody>
          <a:bodyPr/>
          <a:lstStyle/>
          <a:p>
            <a:fld id="{B11A594A-FA0E-4037-8B5A-8F5000593081}" type="datetimeFigureOut">
              <a:rPr lang="en-IN" smtClean="0"/>
              <a:t>08-09-2026</a:t>
            </a:fld>
            <a:endParaRPr lang="en-IN"/>
          </a:p>
        </p:txBody>
      </p:sp>
      <p:sp>
        <p:nvSpPr>
          <p:cNvPr id="3" name="Footer Placeholder 2">
            <a:extLst>
              <a:ext uri="{FF2B5EF4-FFF2-40B4-BE49-F238E27FC236}">
                <a16:creationId xmlns:a16="http://schemas.microsoft.com/office/drawing/2014/main" id="{EFB6CD04-9DC2-AAD8-517A-EA69D3A8941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9651D4B-6D20-FED5-AF90-5CA88B846FC9}"/>
              </a:ext>
            </a:extLst>
          </p:cNvPr>
          <p:cNvSpPr>
            <a:spLocks noGrp="1"/>
          </p:cNvSpPr>
          <p:nvPr>
            <p:ph type="sldNum" sz="quarter" idx="12"/>
          </p:nvPr>
        </p:nvSpPr>
        <p:spPr/>
        <p:txBody>
          <a:bodyPr/>
          <a:lstStyle/>
          <a:p>
            <a:fld id="{A974A1E6-F0F5-445B-88CC-C3FDDBD19148}" type="slidenum">
              <a:rPr lang="en-IN" smtClean="0"/>
              <a:t>‹#›</a:t>
            </a:fld>
            <a:endParaRPr lang="en-IN"/>
          </a:p>
        </p:txBody>
      </p:sp>
    </p:spTree>
    <p:extLst>
      <p:ext uri="{BB962C8B-B14F-4D97-AF65-F5344CB8AC3E}">
        <p14:creationId xmlns:p14="http://schemas.microsoft.com/office/powerpoint/2010/main" val="1044152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8EC12-C236-1D03-0804-008762C1CA3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CD74CFF7-A7D1-565F-95BE-E0B1F67A4B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E863161C-64F1-C6AB-3613-2219DD2F21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5DB9DCC-0918-C0D1-5DCD-3E780C0FE03D}"/>
              </a:ext>
            </a:extLst>
          </p:cNvPr>
          <p:cNvSpPr>
            <a:spLocks noGrp="1"/>
          </p:cNvSpPr>
          <p:nvPr>
            <p:ph type="dt" sz="half" idx="10"/>
          </p:nvPr>
        </p:nvSpPr>
        <p:spPr/>
        <p:txBody>
          <a:bodyPr/>
          <a:lstStyle/>
          <a:p>
            <a:fld id="{B11A594A-FA0E-4037-8B5A-8F5000593081}" type="datetimeFigureOut">
              <a:rPr lang="en-IN" smtClean="0"/>
              <a:t>08-09-2026</a:t>
            </a:fld>
            <a:endParaRPr lang="en-IN"/>
          </a:p>
        </p:txBody>
      </p:sp>
      <p:sp>
        <p:nvSpPr>
          <p:cNvPr id="6" name="Footer Placeholder 5">
            <a:extLst>
              <a:ext uri="{FF2B5EF4-FFF2-40B4-BE49-F238E27FC236}">
                <a16:creationId xmlns:a16="http://schemas.microsoft.com/office/drawing/2014/main" id="{3796BFDA-E32E-DF03-8E5C-34EA777736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4136DD2-AB86-FCE4-1F57-ADFA08D7B50B}"/>
              </a:ext>
            </a:extLst>
          </p:cNvPr>
          <p:cNvSpPr>
            <a:spLocks noGrp="1"/>
          </p:cNvSpPr>
          <p:nvPr>
            <p:ph type="sldNum" sz="quarter" idx="12"/>
          </p:nvPr>
        </p:nvSpPr>
        <p:spPr/>
        <p:txBody>
          <a:bodyPr/>
          <a:lstStyle/>
          <a:p>
            <a:fld id="{A974A1E6-F0F5-445B-88CC-C3FDDBD19148}" type="slidenum">
              <a:rPr lang="en-IN" smtClean="0"/>
              <a:t>‹#›</a:t>
            </a:fld>
            <a:endParaRPr lang="en-IN"/>
          </a:p>
        </p:txBody>
      </p:sp>
    </p:spTree>
    <p:extLst>
      <p:ext uri="{BB962C8B-B14F-4D97-AF65-F5344CB8AC3E}">
        <p14:creationId xmlns:p14="http://schemas.microsoft.com/office/powerpoint/2010/main" val="3337562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3FB5A-9003-B854-DC6E-F348CF638C0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0CC30972-28E8-FC72-7542-AE74E6E326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1478474-F58B-85D0-A02E-C4D56E4F8C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12D9A77-95D1-4D37-B561-A17F0BF1FFEC}"/>
              </a:ext>
            </a:extLst>
          </p:cNvPr>
          <p:cNvSpPr>
            <a:spLocks noGrp="1"/>
          </p:cNvSpPr>
          <p:nvPr>
            <p:ph type="dt" sz="half" idx="10"/>
          </p:nvPr>
        </p:nvSpPr>
        <p:spPr/>
        <p:txBody>
          <a:bodyPr/>
          <a:lstStyle/>
          <a:p>
            <a:fld id="{B11A594A-FA0E-4037-8B5A-8F5000593081}" type="datetimeFigureOut">
              <a:rPr lang="en-IN" smtClean="0"/>
              <a:t>08-09-2026</a:t>
            </a:fld>
            <a:endParaRPr lang="en-IN"/>
          </a:p>
        </p:txBody>
      </p:sp>
      <p:sp>
        <p:nvSpPr>
          <p:cNvPr id="6" name="Footer Placeholder 5">
            <a:extLst>
              <a:ext uri="{FF2B5EF4-FFF2-40B4-BE49-F238E27FC236}">
                <a16:creationId xmlns:a16="http://schemas.microsoft.com/office/drawing/2014/main" id="{423BBEA7-3CB1-8DE2-D6F0-FC90F4D329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670DBE-EB84-D67C-E85C-0D9203C4CCA4}"/>
              </a:ext>
            </a:extLst>
          </p:cNvPr>
          <p:cNvSpPr>
            <a:spLocks noGrp="1"/>
          </p:cNvSpPr>
          <p:nvPr>
            <p:ph type="sldNum" sz="quarter" idx="12"/>
          </p:nvPr>
        </p:nvSpPr>
        <p:spPr/>
        <p:txBody>
          <a:bodyPr/>
          <a:lstStyle/>
          <a:p>
            <a:fld id="{A974A1E6-F0F5-445B-88CC-C3FDDBD19148}" type="slidenum">
              <a:rPr lang="en-IN" smtClean="0"/>
              <a:t>‹#›</a:t>
            </a:fld>
            <a:endParaRPr lang="en-IN"/>
          </a:p>
        </p:txBody>
      </p:sp>
    </p:spTree>
    <p:extLst>
      <p:ext uri="{BB962C8B-B14F-4D97-AF65-F5344CB8AC3E}">
        <p14:creationId xmlns:p14="http://schemas.microsoft.com/office/powerpoint/2010/main" val="2381494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3355D-144F-5036-47C5-EE6FCA962A2C}"/>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4EAD0705-DEA6-DBB6-B71E-8712B9FEB18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1BA4FA61-C070-5E2C-2EE1-D2381BD6097C}"/>
              </a:ext>
            </a:extLst>
          </p:cNvPr>
          <p:cNvSpPr>
            <a:spLocks noGrp="1"/>
          </p:cNvSpPr>
          <p:nvPr>
            <p:ph type="dt" sz="half" idx="10"/>
          </p:nvPr>
        </p:nvSpPr>
        <p:spPr/>
        <p:txBody>
          <a:bodyPr/>
          <a:lstStyle/>
          <a:p>
            <a:fld id="{B11A594A-FA0E-4037-8B5A-8F5000593081}" type="datetimeFigureOut">
              <a:rPr lang="en-IN" smtClean="0"/>
              <a:t>08-09-2026</a:t>
            </a:fld>
            <a:endParaRPr lang="en-IN"/>
          </a:p>
        </p:txBody>
      </p:sp>
      <p:sp>
        <p:nvSpPr>
          <p:cNvPr id="5" name="Footer Placeholder 4">
            <a:extLst>
              <a:ext uri="{FF2B5EF4-FFF2-40B4-BE49-F238E27FC236}">
                <a16:creationId xmlns:a16="http://schemas.microsoft.com/office/drawing/2014/main" id="{CC0E49C8-AC92-5FDD-E9A6-4E120E4F35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B0D1D4-A4B6-540A-88D5-BC4021B01A27}"/>
              </a:ext>
            </a:extLst>
          </p:cNvPr>
          <p:cNvSpPr>
            <a:spLocks noGrp="1"/>
          </p:cNvSpPr>
          <p:nvPr>
            <p:ph type="sldNum" sz="quarter" idx="12"/>
          </p:nvPr>
        </p:nvSpPr>
        <p:spPr/>
        <p:txBody>
          <a:bodyPr/>
          <a:lstStyle/>
          <a:p>
            <a:fld id="{A974A1E6-F0F5-445B-88CC-C3FDDBD19148}" type="slidenum">
              <a:rPr lang="en-IN" smtClean="0"/>
              <a:t>‹#›</a:t>
            </a:fld>
            <a:endParaRPr lang="en-IN"/>
          </a:p>
        </p:txBody>
      </p:sp>
    </p:spTree>
    <p:extLst>
      <p:ext uri="{BB962C8B-B14F-4D97-AF65-F5344CB8AC3E}">
        <p14:creationId xmlns:p14="http://schemas.microsoft.com/office/powerpoint/2010/main" val="2806054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E02B1A-B17C-8BC3-09B4-FAE1892DB40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E6FE9ECC-0EE3-4F57-41DF-A48EB15345C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EB3D21DD-3EC3-0CF7-CED2-A19560B11C37}"/>
              </a:ext>
            </a:extLst>
          </p:cNvPr>
          <p:cNvSpPr>
            <a:spLocks noGrp="1"/>
          </p:cNvSpPr>
          <p:nvPr>
            <p:ph type="dt" sz="half" idx="10"/>
          </p:nvPr>
        </p:nvSpPr>
        <p:spPr/>
        <p:txBody>
          <a:bodyPr/>
          <a:lstStyle/>
          <a:p>
            <a:fld id="{B11A594A-FA0E-4037-8B5A-8F5000593081}" type="datetimeFigureOut">
              <a:rPr lang="en-IN" smtClean="0"/>
              <a:t>08-09-2026</a:t>
            </a:fld>
            <a:endParaRPr lang="en-IN"/>
          </a:p>
        </p:txBody>
      </p:sp>
      <p:sp>
        <p:nvSpPr>
          <p:cNvPr id="5" name="Footer Placeholder 4">
            <a:extLst>
              <a:ext uri="{FF2B5EF4-FFF2-40B4-BE49-F238E27FC236}">
                <a16:creationId xmlns:a16="http://schemas.microsoft.com/office/drawing/2014/main" id="{D61A2527-3583-00C2-B0B0-412B852145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104F82-7E7A-8DAA-A771-EF9BF72E13C3}"/>
              </a:ext>
            </a:extLst>
          </p:cNvPr>
          <p:cNvSpPr>
            <a:spLocks noGrp="1"/>
          </p:cNvSpPr>
          <p:nvPr>
            <p:ph type="sldNum" sz="quarter" idx="12"/>
          </p:nvPr>
        </p:nvSpPr>
        <p:spPr/>
        <p:txBody>
          <a:bodyPr/>
          <a:lstStyle/>
          <a:p>
            <a:fld id="{A974A1E6-F0F5-445B-88CC-C3FDDBD19148}" type="slidenum">
              <a:rPr lang="en-IN" smtClean="0"/>
              <a:t>‹#›</a:t>
            </a:fld>
            <a:endParaRPr lang="en-IN"/>
          </a:p>
        </p:txBody>
      </p:sp>
    </p:spTree>
    <p:extLst>
      <p:ext uri="{BB962C8B-B14F-4D97-AF65-F5344CB8AC3E}">
        <p14:creationId xmlns:p14="http://schemas.microsoft.com/office/powerpoint/2010/main" val="729634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FB8D42-A08B-D7B5-A876-B1E77D3AF9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D2473982-C29C-24A8-DAB7-C1CF83F4B8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D079EEA1-D9FF-07DC-5C46-89BE65F39C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1A594A-FA0E-4037-8B5A-8F5000593081}" type="datetimeFigureOut">
              <a:rPr lang="en-IN" smtClean="0"/>
              <a:t>08-09-2026</a:t>
            </a:fld>
            <a:endParaRPr lang="en-IN"/>
          </a:p>
        </p:txBody>
      </p:sp>
      <p:sp>
        <p:nvSpPr>
          <p:cNvPr id="5" name="Footer Placeholder 4">
            <a:extLst>
              <a:ext uri="{FF2B5EF4-FFF2-40B4-BE49-F238E27FC236}">
                <a16:creationId xmlns:a16="http://schemas.microsoft.com/office/drawing/2014/main" id="{57612576-3848-9DC7-BB26-B59D5226CA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0DA3FE8-F578-9B33-B167-ADDAC645B5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74A1E6-F0F5-445B-88CC-C3FDDBD19148}" type="slidenum">
              <a:rPr lang="en-IN" smtClean="0"/>
              <a:t>‹#›</a:t>
            </a:fld>
            <a:endParaRPr lang="en-IN"/>
          </a:p>
        </p:txBody>
      </p:sp>
    </p:spTree>
    <p:extLst>
      <p:ext uri="{BB962C8B-B14F-4D97-AF65-F5344CB8AC3E}">
        <p14:creationId xmlns:p14="http://schemas.microsoft.com/office/powerpoint/2010/main" val="6406924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EDD9DC-C8AD-7922-FBB2-E692D46249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EE7AA774-5E1E-967A-B410-872960D97689}"/>
              </a:ext>
            </a:extLst>
          </p:cNvPr>
          <p:cNvSpPr/>
          <p:nvPr/>
        </p:nvSpPr>
        <p:spPr>
          <a:xfrm>
            <a:off x="1132115" y="4898571"/>
            <a:ext cx="3831772" cy="56605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3600" b="1" dirty="0"/>
              <a:t>BHUVAN P</a:t>
            </a:r>
            <a:endParaRPr lang="en-IN" sz="3600" b="1" dirty="0"/>
          </a:p>
        </p:txBody>
      </p:sp>
    </p:spTree>
    <p:extLst>
      <p:ext uri="{BB962C8B-B14F-4D97-AF65-F5344CB8AC3E}">
        <p14:creationId xmlns:p14="http://schemas.microsoft.com/office/powerpoint/2010/main" val="2009562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67C591-FFD3-E217-8E31-1BFCADF58DF0}"/>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F6B52AEE-87FB-03DA-894F-92FB9AA2C5B1}"/>
              </a:ext>
            </a:extLst>
          </p:cNvPr>
          <p:cNvSpPr txBox="1"/>
          <p:nvPr/>
        </p:nvSpPr>
        <p:spPr>
          <a:xfrm>
            <a:off x="1099457" y="1328057"/>
            <a:ext cx="9361714" cy="4708981"/>
          </a:xfrm>
          <a:prstGeom prst="rect">
            <a:avLst/>
          </a:prstGeom>
          <a:noFill/>
        </p:spPr>
        <p:txBody>
          <a:bodyPr wrap="square" rtlCol="0">
            <a:spAutoFit/>
          </a:bodyPr>
          <a:lstStyle/>
          <a:p>
            <a:r>
              <a:rPr lang="en-US" sz="3600" dirty="0">
                <a:solidFill>
                  <a:schemeClr val="bg1"/>
                </a:solidFill>
                <a:latin typeface="Times New Roman" panose="02020603050405020304" pitchFamily="18" charset="0"/>
                <a:cs typeface="Times New Roman" panose="02020603050405020304" pitchFamily="18" charset="0"/>
              </a:rPr>
              <a:t>AGENDA</a:t>
            </a:r>
          </a:p>
          <a:p>
            <a:endParaRPr lang="en-US" sz="3600" dirty="0">
              <a:solidFill>
                <a:schemeClr val="bg1"/>
              </a:solidFill>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IN" sz="3200" dirty="0">
                <a:solidFill>
                  <a:schemeClr val="bg1"/>
                </a:solidFill>
                <a:latin typeface="Times New Roman" panose="02020603050405020304" pitchFamily="18" charset="0"/>
                <a:cs typeface="Times New Roman" panose="02020603050405020304" pitchFamily="18" charset="0"/>
              </a:rPr>
              <a:t>Problem Statement</a:t>
            </a:r>
          </a:p>
          <a:p>
            <a:pPr marL="571500" indent="-571500">
              <a:buFont typeface="Arial" panose="020B0604020202020204" pitchFamily="34" charset="0"/>
              <a:buChar char="•"/>
            </a:pPr>
            <a:r>
              <a:rPr lang="en-IN" sz="3200" dirty="0">
                <a:solidFill>
                  <a:schemeClr val="bg1"/>
                </a:solidFill>
                <a:latin typeface="Times New Roman" panose="02020603050405020304" pitchFamily="18" charset="0"/>
                <a:cs typeface="Times New Roman" panose="02020603050405020304" pitchFamily="18" charset="0"/>
              </a:rPr>
              <a:t>ER Diagram </a:t>
            </a:r>
          </a:p>
          <a:p>
            <a:pPr marL="571500" indent="-571500">
              <a:buFont typeface="Arial" panose="020B0604020202020204" pitchFamily="34" charset="0"/>
              <a:buChar char="•"/>
            </a:pPr>
            <a:r>
              <a:rPr lang="en-IN" sz="3200" dirty="0">
                <a:solidFill>
                  <a:schemeClr val="bg1"/>
                </a:solidFill>
                <a:latin typeface="Times New Roman" panose="02020603050405020304" pitchFamily="18" charset="0"/>
                <a:cs typeface="Times New Roman" panose="02020603050405020304" pitchFamily="18" charset="0"/>
              </a:rPr>
              <a:t>Data Description </a:t>
            </a:r>
          </a:p>
          <a:p>
            <a:pPr marL="571500" indent="-571500">
              <a:buFont typeface="Arial" panose="020B0604020202020204" pitchFamily="34" charset="0"/>
              <a:buChar char="•"/>
            </a:pPr>
            <a:r>
              <a:rPr lang="en-IN" sz="3200" dirty="0">
                <a:solidFill>
                  <a:schemeClr val="bg1"/>
                </a:solidFill>
                <a:latin typeface="Times New Roman" panose="02020603050405020304" pitchFamily="18" charset="0"/>
                <a:cs typeface="Times New Roman" panose="02020603050405020304" pitchFamily="18" charset="0"/>
              </a:rPr>
              <a:t>Data visualization</a:t>
            </a:r>
          </a:p>
          <a:p>
            <a:pPr marL="571500" indent="-571500">
              <a:buFont typeface="Arial" panose="020B0604020202020204" pitchFamily="34" charset="0"/>
              <a:buChar char="•"/>
            </a:pPr>
            <a:r>
              <a:rPr lang="en-IN" sz="3200" dirty="0">
                <a:solidFill>
                  <a:schemeClr val="bg1"/>
                </a:solidFill>
                <a:latin typeface="Times New Roman" panose="02020603050405020304" pitchFamily="18" charset="0"/>
                <a:cs typeface="Times New Roman" panose="02020603050405020304" pitchFamily="18" charset="0"/>
              </a:rPr>
              <a:t>Conclusion</a:t>
            </a:r>
          </a:p>
          <a:p>
            <a:pPr marL="571500" indent="-571500">
              <a:buFont typeface="Arial" panose="020B0604020202020204" pitchFamily="34" charset="0"/>
              <a:buChar char="•"/>
            </a:pPr>
            <a:r>
              <a:rPr lang="en-IN" sz="3200" dirty="0">
                <a:solidFill>
                  <a:schemeClr val="bg1"/>
                </a:solidFill>
                <a:latin typeface="Times New Roman" panose="02020603050405020304" pitchFamily="18" charset="0"/>
                <a:cs typeface="Times New Roman" panose="02020603050405020304" pitchFamily="18" charset="0"/>
              </a:rPr>
              <a:t>Final </a:t>
            </a:r>
            <a:r>
              <a:rPr lang="en-IN" sz="3200" dirty="0" err="1">
                <a:solidFill>
                  <a:schemeClr val="bg1"/>
                </a:solidFill>
                <a:latin typeface="Times New Roman" panose="02020603050405020304" pitchFamily="18" charset="0"/>
                <a:cs typeface="Times New Roman" panose="02020603050405020304" pitchFamily="18" charset="0"/>
              </a:rPr>
              <a:t>Recomandations</a:t>
            </a:r>
            <a:endParaRPr lang="en-IN" sz="3200" dirty="0">
              <a:solidFill>
                <a:schemeClr val="bg1"/>
              </a:solidFill>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endParaRPr lang="en-US" sz="3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140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0F98F7-E885-8B44-E1D1-BBC1270C7DD9}"/>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7605E882-6303-9930-5E7C-F4A2B2E9E361}"/>
              </a:ext>
            </a:extLst>
          </p:cNvPr>
          <p:cNvSpPr txBox="1"/>
          <p:nvPr/>
        </p:nvSpPr>
        <p:spPr>
          <a:xfrm>
            <a:off x="1208314" y="1382486"/>
            <a:ext cx="8436429" cy="5293757"/>
          </a:xfrm>
          <a:prstGeom prst="rect">
            <a:avLst/>
          </a:prstGeom>
          <a:noFill/>
        </p:spPr>
        <p:txBody>
          <a:bodyPr wrap="square" rtlCol="0">
            <a:spAutoFit/>
          </a:bodyPr>
          <a:lstStyle/>
          <a:p>
            <a:r>
              <a:rPr lang="en-US" sz="3200" b="1" dirty="0">
                <a:solidFill>
                  <a:schemeClr val="bg1"/>
                </a:solidFill>
              </a:rPr>
              <a:t>Problem Statement:</a:t>
            </a:r>
          </a:p>
          <a:p>
            <a:endParaRPr lang="en-IN" sz="2400" dirty="0">
              <a:solidFill>
                <a:schemeClr val="bg1"/>
              </a:solidFill>
            </a:endParaRPr>
          </a:p>
          <a:p>
            <a:r>
              <a:rPr lang="en-IN" sz="2400" dirty="0">
                <a:solidFill>
                  <a:schemeClr val="bg1"/>
                </a:solidFill>
              </a:rPr>
              <a:t>RCB needs a </a:t>
            </a:r>
            <a:r>
              <a:rPr lang="en-IN" sz="2400" b="1" dirty="0">
                <a:solidFill>
                  <a:schemeClr val="bg1"/>
                </a:solidFill>
              </a:rPr>
              <a:t>data-driven strategy</a:t>
            </a:r>
            <a:r>
              <a:rPr lang="en-IN" sz="2400" dirty="0">
                <a:solidFill>
                  <a:schemeClr val="bg1"/>
                </a:solidFill>
              </a:rPr>
              <a:t> to build a stronger, more reliable and well-balanced squad. The main challenge is to identify players who consistently perform well, understand their overall impact across batting and bowling, and determine which players provide the best value for the auction investment. This project aims to </a:t>
            </a:r>
            <a:r>
              <a:rPr lang="en-IN" sz="2400" dirty="0" err="1">
                <a:solidFill>
                  <a:schemeClr val="bg1"/>
                </a:solidFill>
              </a:rPr>
              <a:t>analyze</a:t>
            </a:r>
            <a:r>
              <a:rPr lang="en-IN" sz="2400" dirty="0">
                <a:solidFill>
                  <a:schemeClr val="bg1"/>
                </a:solidFill>
              </a:rPr>
              <a:t> player performance and reliability, identify top-performing and high-impact players, optimize the allocation of the auction budget, and understand key squad requirements. By using historical IPL data and performance insights, the objective is to support </a:t>
            </a:r>
            <a:r>
              <a:rPr lang="en-IN" sz="2400" b="1" dirty="0">
                <a:solidFill>
                  <a:schemeClr val="bg1"/>
                </a:solidFill>
              </a:rPr>
              <a:t>smarter auction decisions and help RCB build a balanced squad capable of delivering consistent results</a:t>
            </a:r>
            <a:r>
              <a:rPr lang="en-IN" sz="2400" dirty="0">
                <a:solidFill>
                  <a:schemeClr val="bg1"/>
                </a:solidFill>
              </a:rPr>
              <a:t>.</a:t>
            </a:r>
            <a:endParaRPr lang="en-US" sz="2400" b="1" dirty="0">
              <a:solidFill>
                <a:schemeClr val="bg1"/>
              </a:solidFill>
            </a:endParaRPr>
          </a:p>
          <a:p>
            <a:endParaRPr lang="en-IN" dirty="0">
              <a:solidFill>
                <a:schemeClr val="bg1"/>
              </a:solidFill>
            </a:endParaRPr>
          </a:p>
        </p:txBody>
      </p:sp>
    </p:spTree>
    <p:extLst>
      <p:ext uri="{BB962C8B-B14F-4D97-AF65-F5344CB8AC3E}">
        <p14:creationId xmlns:p14="http://schemas.microsoft.com/office/powerpoint/2010/main" val="3561108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E052A-DED5-210D-9EB0-37E2C870B10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2572612-AFF3-489B-8695-E75073C1486B}"/>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 name="Google Shape;73;p16">
            <a:extLst>
              <a:ext uri="{FF2B5EF4-FFF2-40B4-BE49-F238E27FC236}">
                <a16:creationId xmlns:a16="http://schemas.microsoft.com/office/drawing/2014/main" id="{1C968A12-5CF2-AA0F-A21B-07195616F873}"/>
              </a:ext>
            </a:extLst>
          </p:cNvPr>
          <p:cNvPicPr preferRelativeResize="0">
            <a:picLocks/>
          </p:cNvPicPr>
          <p:nvPr/>
        </p:nvPicPr>
        <p:blipFill>
          <a:blip r:embed="rId3">
            <a:alphaModFix/>
          </a:blip>
          <a:stretch>
            <a:fillRect/>
          </a:stretch>
        </p:blipFill>
        <p:spPr>
          <a:xfrm>
            <a:off x="1317170" y="1338943"/>
            <a:ext cx="9699173" cy="4887686"/>
          </a:xfrm>
          <a:prstGeom prst="rect">
            <a:avLst/>
          </a:prstGeom>
          <a:noFill/>
          <a:ln>
            <a:noFill/>
          </a:ln>
        </p:spPr>
      </p:pic>
      <p:sp>
        <p:nvSpPr>
          <p:cNvPr id="5" name="TextBox 4">
            <a:extLst>
              <a:ext uri="{FF2B5EF4-FFF2-40B4-BE49-F238E27FC236}">
                <a16:creationId xmlns:a16="http://schemas.microsoft.com/office/drawing/2014/main" id="{DBF8BD87-53EE-AC2C-1656-5704BBD6B0C2}"/>
              </a:ext>
            </a:extLst>
          </p:cNvPr>
          <p:cNvSpPr txBox="1"/>
          <p:nvPr/>
        </p:nvSpPr>
        <p:spPr>
          <a:xfrm>
            <a:off x="3156857" y="631371"/>
            <a:ext cx="4735285" cy="461665"/>
          </a:xfrm>
          <a:prstGeom prst="rect">
            <a:avLst/>
          </a:prstGeom>
          <a:noFill/>
        </p:spPr>
        <p:txBody>
          <a:bodyPr wrap="square" rtlCol="0">
            <a:spAutoFit/>
          </a:bodyPr>
          <a:lstStyle/>
          <a:p>
            <a:pPr algn="ctr"/>
            <a:r>
              <a:rPr lang="en-US" sz="2400" dirty="0">
                <a:solidFill>
                  <a:schemeClr val="bg1"/>
                </a:solidFill>
              </a:rPr>
              <a:t>ER DIAGRAM</a:t>
            </a:r>
            <a:endParaRPr lang="en-IN" sz="2400" dirty="0">
              <a:solidFill>
                <a:schemeClr val="bg1"/>
              </a:solidFill>
            </a:endParaRPr>
          </a:p>
        </p:txBody>
      </p:sp>
    </p:spTree>
    <p:extLst>
      <p:ext uri="{BB962C8B-B14F-4D97-AF65-F5344CB8AC3E}">
        <p14:creationId xmlns:p14="http://schemas.microsoft.com/office/powerpoint/2010/main" val="1584441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0F237-C347-7F2B-3B4E-D12F484CF64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004027A-5171-F656-F6BC-7557EFEEF91B}"/>
              </a:ext>
            </a:extLst>
          </p:cNvPr>
          <p:cNvPicPr>
            <a:picLocks noChangeAspect="1"/>
          </p:cNvPicPr>
          <p:nvPr/>
        </p:nvPicPr>
        <p:blipFill>
          <a:blip r:embed="rId3">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297EC4D6-2BC6-D966-0DA6-7A048C519303}"/>
              </a:ext>
            </a:extLst>
          </p:cNvPr>
          <p:cNvSpPr txBox="1"/>
          <p:nvPr/>
        </p:nvSpPr>
        <p:spPr>
          <a:xfrm>
            <a:off x="1233996" y="1260629"/>
            <a:ext cx="5246703" cy="5724644"/>
          </a:xfrm>
          <a:prstGeom prst="rect">
            <a:avLst/>
          </a:prstGeom>
          <a:noFill/>
        </p:spPr>
        <p:txBody>
          <a:bodyPr wrap="square" rtlCol="0">
            <a:spAutoFit/>
          </a:bodyPr>
          <a:lstStyle/>
          <a:p>
            <a:r>
              <a:rPr lang="en-IN" sz="3600" b="1" dirty="0">
                <a:solidFill>
                  <a:schemeClr val="bg1"/>
                </a:solidFill>
              </a:rPr>
              <a:t>Data Description</a:t>
            </a:r>
          </a:p>
          <a:p>
            <a:endParaRPr lang="en-IN" sz="2400" b="1" dirty="0">
              <a:solidFill>
                <a:schemeClr val="bg1"/>
              </a:solidFill>
            </a:endParaRPr>
          </a:p>
          <a:p>
            <a:r>
              <a:rPr lang="en-IN" b="1" dirty="0">
                <a:solidFill>
                  <a:schemeClr val="bg1"/>
                </a:solidFill>
              </a:rPr>
              <a:t>Ball by Ball</a:t>
            </a:r>
          </a:p>
          <a:p>
            <a:endParaRPr lang="en-IN" b="1" dirty="0">
              <a:solidFill>
                <a:schemeClr val="bg1"/>
              </a:solidFill>
            </a:endParaRPr>
          </a:p>
          <a:p>
            <a:pPr lvl="0" fontAlgn="base"/>
            <a:r>
              <a:rPr lang="en-IN" dirty="0" err="1">
                <a:solidFill>
                  <a:schemeClr val="bg1"/>
                </a:solidFill>
              </a:rPr>
              <a:t>Match_id</a:t>
            </a:r>
            <a:r>
              <a:rPr lang="en-IN" dirty="0">
                <a:solidFill>
                  <a:schemeClr val="bg1"/>
                </a:solidFill>
              </a:rPr>
              <a:t>: Unique identifier for a cricket match</a:t>
            </a:r>
          </a:p>
          <a:p>
            <a:pPr lvl="0" fontAlgn="base"/>
            <a:r>
              <a:rPr lang="en-IN" dirty="0" err="1">
                <a:solidFill>
                  <a:schemeClr val="bg1"/>
                </a:solidFill>
              </a:rPr>
              <a:t>Over_id</a:t>
            </a:r>
            <a:r>
              <a:rPr lang="en-IN" dirty="0">
                <a:solidFill>
                  <a:schemeClr val="bg1"/>
                </a:solidFill>
              </a:rPr>
              <a:t>: Unique identifier for an over in a cricket match</a:t>
            </a:r>
          </a:p>
          <a:p>
            <a:pPr lvl="0" fontAlgn="base"/>
            <a:r>
              <a:rPr lang="en-IN" dirty="0" err="1">
                <a:solidFill>
                  <a:schemeClr val="bg1"/>
                </a:solidFill>
              </a:rPr>
              <a:t>Ball_id</a:t>
            </a:r>
            <a:r>
              <a:rPr lang="en-IN" dirty="0">
                <a:solidFill>
                  <a:schemeClr val="bg1"/>
                </a:solidFill>
              </a:rPr>
              <a:t>: Unique identifier for a ball in an over</a:t>
            </a:r>
          </a:p>
          <a:p>
            <a:pPr lvl="0" fontAlgn="base"/>
            <a:r>
              <a:rPr lang="en-IN" dirty="0" err="1">
                <a:solidFill>
                  <a:schemeClr val="bg1"/>
                </a:solidFill>
              </a:rPr>
              <a:t>Innings_No</a:t>
            </a:r>
            <a:r>
              <a:rPr lang="en-IN" dirty="0">
                <a:solidFill>
                  <a:schemeClr val="bg1"/>
                </a:solidFill>
              </a:rPr>
              <a:t>: The innings number in a cricket match</a:t>
            </a:r>
          </a:p>
          <a:p>
            <a:pPr lvl="0" fontAlgn="base"/>
            <a:r>
              <a:rPr lang="en-IN" dirty="0" err="1">
                <a:solidFill>
                  <a:schemeClr val="bg1"/>
                </a:solidFill>
              </a:rPr>
              <a:t>Team_Batting</a:t>
            </a:r>
            <a:r>
              <a:rPr lang="en-IN" dirty="0">
                <a:solidFill>
                  <a:schemeClr val="bg1"/>
                </a:solidFill>
              </a:rPr>
              <a:t>: The team batting in a particular innings</a:t>
            </a:r>
          </a:p>
          <a:p>
            <a:pPr lvl="0" fontAlgn="base"/>
            <a:r>
              <a:rPr lang="en-IN" dirty="0" err="1">
                <a:solidFill>
                  <a:schemeClr val="bg1"/>
                </a:solidFill>
              </a:rPr>
              <a:t>Team_Bowling</a:t>
            </a:r>
            <a:r>
              <a:rPr lang="en-IN" dirty="0">
                <a:solidFill>
                  <a:schemeClr val="bg1"/>
                </a:solidFill>
              </a:rPr>
              <a:t>: The team bowling in a particular innings</a:t>
            </a:r>
          </a:p>
          <a:p>
            <a:pPr lvl="0" fontAlgn="base"/>
            <a:r>
              <a:rPr lang="en-IN" dirty="0" err="1">
                <a:solidFill>
                  <a:schemeClr val="bg1"/>
                </a:solidFill>
              </a:rPr>
              <a:t>Striker_Batting_Position</a:t>
            </a:r>
            <a:r>
              <a:rPr lang="en-IN" dirty="0">
                <a:solidFill>
                  <a:schemeClr val="bg1"/>
                </a:solidFill>
              </a:rPr>
              <a:t>: The batting position of the striker batsman</a:t>
            </a:r>
          </a:p>
          <a:p>
            <a:pPr lvl="0" fontAlgn="base"/>
            <a:r>
              <a:rPr lang="en-IN" dirty="0">
                <a:solidFill>
                  <a:schemeClr val="bg1"/>
                </a:solidFill>
              </a:rPr>
              <a:t>Striker: The batsman currently on strike</a:t>
            </a:r>
          </a:p>
          <a:p>
            <a:pPr lvl="0" fontAlgn="base"/>
            <a:r>
              <a:rPr lang="en-IN" dirty="0" err="1">
                <a:solidFill>
                  <a:schemeClr val="bg1"/>
                </a:solidFill>
              </a:rPr>
              <a:t>Non_Striker</a:t>
            </a:r>
            <a:r>
              <a:rPr lang="en-IN" dirty="0">
                <a:solidFill>
                  <a:schemeClr val="bg1"/>
                </a:solidFill>
              </a:rPr>
              <a:t>: The batsman currently at the non-striker's end</a:t>
            </a:r>
          </a:p>
          <a:p>
            <a:pPr lvl="0" fontAlgn="base"/>
            <a:r>
              <a:rPr lang="en-IN" dirty="0">
                <a:solidFill>
                  <a:schemeClr val="bg1"/>
                </a:solidFill>
              </a:rPr>
              <a:t>Bowler: The bowler bowling the current delivery</a:t>
            </a:r>
          </a:p>
          <a:p>
            <a:endParaRPr lang="en-IN" dirty="0">
              <a:solidFill>
                <a:schemeClr val="bg1"/>
              </a:solidFill>
            </a:endParaRPr>
          </a:p>
        </p:txBody>
      </p:sp>
      <p:sp>
        <p:nvSpPr>
          <p:cNvPr id="6" name="TextBox 5">
            <a:extLst>
              <a:ext uri="{FF2B5EF4-FFF2-40B4-BE49-F238E27FC236}">
                <a16:creationId xmlns:a16="http://schemas.microsoft.com/office/drawing/2014/main" id="{ACA2EA80-E6B9-196A-FF8B-0675A77F48CD}"/>
              </a:ext>
            </a:extLst>
          </p:cNvPr>
          <p:cNvSpPr txBox="1"/>
          <p:nvPr/>
        </p:nvSpPr>
        <p:spPr>
          <a:xfrm>
            <a:off x="6640497" y="976544"/>
            <a:ext cx="5122416" cy="5909310"/>
          </a:xfrm>
          <a:prstGeom prst="rect">
            <a:avLst/>
          </a:prstGeom>
          <a:noFill/>
        </p:spPr>
        <p:txBody>
          <a:bodyPr wrap="square" rtlCol="0">
            <a:spAutoFit/>
          </a:bodyPr>
          <a:lstStyle/>
          <a:p>
            <a:endParaRPr lang="en-IN" b="1" dirty="0">
              <a:solidFill>
                <a:schemeClr val="bg1"/>
              </a:solidFill>
            </a:endParaRPr>
          </a:p>
          <a:p>
            <a:r>
              <a:rPr lang="en-IN" b="1" dirty="0">
                <a:solidFill>
                  <a:schemeClr val="bg1"/>
                </a:solidFill>
              </a:rPr>
              <a:t>Batting style</a:t>
            </a:r>
          </a:p>
          <a:p>
            <a:endParaRPr lang="en-IN" b="0" dirty="0">
              <a:solidFill>
                <a:schemeClr val="bg1"/>
              </a:solidFill>
              <a:effectLst/>
            </a:endParaRPr>
          </a:p>
          <a:p>
            <a:pPr lvl="0" fontAlgn="base"/>
            <a:r>
              <a:rPr lang="en-IN" dirty="0" err="1">
                <a:solidFill>
                  <a:schemeClr val="bg1"/>
                </a:solidFill>
              </a:rPr>
              <a:t>Batting_id</a:t>
            </a:r>
            <a:r>
              <a:rPr lang="en-IN" dirty="0">
                <a:solidFill>
                  <a:schemeClr val="bg1"/>
                </a:solidFill>
              </a:rPr>
              <a:t>: Unique identifier for a batsman's batting record</a:t>
            </a:r>
          </a:p>
          <a:p>
            <a:pPr lvl="0" fontAlgn="base"/>
            <a:r>
              <a:rPr lang="en-IN" dirty="0" err="1">
                <a:solidFill>
                  <a:schemeClr val="bg1"/>
                </a:solidFill>
              </a:rPr>
              <a:t>Batting_hand</a:t>
            </a:r>
            <a:r>
              <a:rPr lang="en-IN" dirty="0">
                <a:solidFill>
                  <a:schemeClr val="bg1"/>
                </a:solidFill>
              </a:rPr>
              <a:t>: The batting hand (right or left) of a batsman</a:t>
            </a:r>
          </a:p>
          <a:p>
            <a:pPr lvl="0" fontAlgn="base"/>
            <a:endParaRPr lang="en-IN" dirty="0">
              <a:solidFill>
                <a:schemeClr val="bg1"/>
              </a:solidFill>
            </a:endParaRPr>
          </a:p>
          <a:p>
            <a:r>
              <a:rPr lang="en-IN" b="1" dirty="0">
                <a:solidFill>
                  <a:schemeClr val="bg1"/>
                </a:solidFill>
              </a:rPr>
              <a:t>Bowling style</a:t>
            </a:r>
          </a:p>
          <a:p>
            <a:endParaRPr lang="en-IN" b="0" dirty="0">
              <a:solidFill>
                <a:schemeClr val="bg1"/>
              </a:solidFill>
              <a:effectLst/>
            </a:endParaRPr>
          </a:p>
          <a:p>
            <a:pPr lvl="0" fontAlgn="base"/>
            <a:r>
              <a:rPr lang="en-IN" dirty="0" err="1">
                <a:solidFill>
                  <a:schemeClr val="bg1"/>
                </a:solidFill>
              </a:rPr>
              <a:t>Bowling_id</a:t>
            </a:r>
            <a:r>
              <a:rPr lang="en-IN" dirty="0">
                <a:solidFill>
                  <a:schemeClr val="bg1"/>
                </a:solidFill>
              </a:rPr>
              <a:t>: Unique identifier for a bowler's bowling record</a:t>
            </a:r>
          </a:p>
          <a:p>
            <a:pPr lvl="0" fontAlgn="base"/>
            <a:r>
              <a:rPr lang="en-IN" dirty="0" err="1">
                <a:solidFill>
                  <a:schemeClr val="bg1"/>
                </a:solidFill>
              </a:rPr>
              <a:t>Bowling_skill</a:t>
            </a:r>
            <a:r>
              <a:rPr lang="en-IN" dirty="0">
                <a:solidFill>
                  <a:schemeClr val="bg1"/>
                </a:solidFill>
              </a:rPr>
              <a:t>: The bowling skill (e.g., right-arm fast, left-arm spin) of a bowler</a:t>
            </a:r>
          </a:p>
          <a:p>
            <a:pPr lvl="0" fontAlgn="base"/>
            <a:endParaRPr lang="en-IN" dirty="0">
              <a:solidFill>
                <a:schemeClr val="bg1"/>
              </a:solidFill>
            </a:endParaRPr>
          </a:p>
          <a:p>
            <a:r>
              <a:rPr lang="en-IN" b="1" dirty="0">
                <a:solidFill>
                  <a:schemeClr val="bg1"/>
                </a:solidFill>
              </a:rPr>
              <a:t>City</a:t>
            </a:r>
          </a:p>
          <a:p>
            <a:endParaRPr lang="en-IN" b="0" dirty="0">
              <a:solidFill>
                <a:schemeClr val="bg1"/>
              </a:solidFill>
              <a:effectLst/>
            </a:endParaRPr>
          </a:p>
          <a:p>
            <a:pPr lvl="0" fontAlgn="base"/>
            <a:r>
              <a:rPr lang="en-IN" dirty="0" err="1">
                <a:solidFill>
                  <a:schemeClr val="bg1"/>
                </a:solidFill>
              </a:rPr>
              <a:t>City_id</a:t>
            </a:r>
            <a:r>
              <a:rPr lang="en-IN" dirty="0">
                <a:solidFill>
                  <a:schemeClr val="bg1"/>
                </a:solidFill>
              </a:rPr>
              <a:t>: Unique identifier for a city</a:t>
            </a:r>
          </a:p>
          <a:p>
            <a:pPr lvl="0" fontAlgn="base"/>
            <a:r>
              <a:rPr lang="en-IN" dirty="0" err="1">
                <a:solidFill>
                  <a:schemeClr val="bg1"/>
                </a:solidFill>
              </a:rPr>
              <a:t>City_Name</a:t>
            </a:r>
            <a:r>
              <a:rPr lang="en-IN" dirty="0">
                <a:solidFill>
                  <a:schemeClr val="bg1"/>
                </a:solidFill>
              </a:rPr>
              <a:t>: The name of a city</a:t>
            </a:r>
          </a:p>
          <a:p>
            <a:pPr lvl="0" fontAlgn="base"/>
            <a:r>
              <a:rPr lang="en-IN" dirty="0" err="1">
                <a:solidFill>
                  <a:schemeClr val="bg1"/>
                </a:solidFill>
              </a:rPr>
              <a:t>Country_id</a:t>
            </a:r>
            <a:r>
              <a:rPr lang="en-IN" dirty="0">
                <a:solidFill>
                  <a:schemeClr val="bg1"/>
                </a:solidFill>
              </a:rPr>
              <a:t>: Unique identifier for a country</a:t>
            </a:r>
          </a:p>
          <a:p>
            <a:endParaRPr lang="en-IN" dirty="0">
              <a:solidFill>
                <a:schemeClr val="bg1"/>
              </a:solidFill>
            </a:endParaRPr>
          </a:p>
        </p:txBody>
      </p:sp>
    </p:spTree>
    <p:extLst>
      <p:ext uri="{BB962C8B-B14F-4D97-AF65-F5344CB8AC3E}">
        <p14:creationId xmlns:p14="http://schemas.microsoft.com/office/powerpoint/2010/main" val="1941802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92CE6-992A-D2CA-76BA-3C1F9299E08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3F41AFF-2527-02C2-52C6-DEFD56ACD263}"/>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A6E2F7B8-9262-7E14-9156-96527A73C9F2}"/>
              </a:ext>
            </a:extLst>
          </p:cNvPr>
          <p:cNvSpPr txBox="1"/>
          <p:nvPr/>
        </p:nvSpPr>
        <p:spPr>
          <a:xfrm>
            <a:off x="1136342" y="1216241"/>
            <a:ext cx="5362112" cy="5355312"/>
          </a:xfrm>
          <a:prstGeom prst="rect">
            <a:avLst/>
          </a:prstGeom>
          <a:noFill/>
        </p:spPr>
        <p:txBody>
          <a:bodyPr wrap="square" rtlCol="0">
            <a:spAutoFit/>
          </a:bodyPr>
          <a:lstStyle/>
          <a:p>
            <a:r>
              <a:rPr lang="en-IN" b="1" dirty="0">
                <a:solidFill>
                  <a:schemeClr val="bg1"/>
                </a:solidFill>
              </a:rPr>
              <a:t>Matches</a:t>
            </a:r>
            <a:endParaRPr lang="en-IN" b="0" dirty="0">
              <a:solidFill>
                <a:schemeClr val="bg1"/>
              </a:solidFill>
              <a:effectLst/>
            </a:endParaRPr>
          </a:p>
          <a:p>
            <a:pPr lvl="0" fontAlgn="base"/>
            <a:r>
              <a:rPr lang="en-IN" dirty="0" err="1">
                <a:solidFill>
                  <a:schemeClr val="bg1"/>
                </a:solidFill>
              </a:rPr>
              <a:t>Match_Id</a:t>
            </a:r>
            <a:r>
              <a:rPr lang="en-IN" dirty="0">
                <a:solidFill>
                  <a:schemeClr val="bg1"/>
                </a:solidFill>
              </a:rPr>
              <a:t>: Unique identifier for each match.</a:t>
            </a:r>
          </a:p>
          <a:p>
            <a:pPr lvl="0" fontAlgn="base"/>
            <a:r>
              <a:rPr lang="en-IN" dirty="0" err="1">
                <a:solidFill>
                  <a:schemeClr val="bg1"/>
                </a:solidFill>
              </a:rPr>
              <a:t>Match_Date</a:t>
            </a:r>
            <a:r>
              <a:rPr lang="en-IN" dirty="0">
                <a:solidFill>
                  <a:schemeClr val="bg1"/>
                </a:solidFill>
              </a:rPr>
              <a:t>: The date when the match took place.</a:t>
            </a:r>
          </a:p>
          <a:p>
            <a:pPr lvl="0" fontAlgn="base"/>
            <a:r>
              <a:rPr lang="en-IN" dirty="0" err="1">
                <a:solidFill>
                  <a:schemeClr val="bg1"/>
                </a:solidFill>
              </a:rPr>
              <a:t>Match_Winner</a:t>
            </a:r>
            <a:r>
              <a:rPr lang="en-IN" dirty="0">
                <a:solidFill>
                  <a:schemeClr val="bg1"/>
                </a:solidFill>
              </a:rPr>
              <a:t>: The team that won the match.</a:t>
            </a:r>
          </a:p>
          <a:p>
            <a:pPr lvl="0" fontAlgn="base"/>
            <a:r>
              <a:rPr lang="en-IN" dirty="0" err="1">
                <a:solidFill>
                  <a:schemeClr val="bg1"/>
                </a:solidFill>
              </a:rPr>
              <a:t>Outcome_Type</a:t>
            </a:r>
            <a:r>
              <a:rPr lang="en-IN" dirty="0">
                <a:solidFill>
                  <a:schemeClr val="bg1"/>
                </a:solidFill>
              </a:rPr>
              <a:t>: Type of result (win, tie, etc.).</a:t>
            </a:r>
          </a:p>
          <a:p>
            <a:pPr lvl="0" fontAlgn="base"/>
            <a:r>
              <a:rPr lang="en-IN" dirty="0" err="1">
                <a:solidFill>
                  <a:schemeClr val="bg1"/>
                </a:solidFill>
              </a:rPr>
              <a:t>Toss_Winner</a:t>
            </a:r>
            <a:r>
              <a:rPr lang="en-IN" dirty="0">
                <a:solidFill>
                  <a:schemeClr val="bg1"/>
                </a:solidFill>
              </a:rPr>
              <a:t>: The team that won the toss.</a:t>
            </a:r>
          </a:p>
          <a:p>
            <a:pPr lvl="0" fontAlgn="base"/>
            <a:r>
              <a:rPr lang="en-IN" dirty="0" err="1">
                <a:solidFill>
                  <a:schemeClr val="bg1"/>
                </a:solidFill>
              </a:rPr>
              <a:t>Win_Type</a:t>
            </a:r>
            <a:r>
              <a:rPr lang="en-IN" dirty="0">
                <a:solidFill>
                  <a:schemeClr val="bg1"/>
                </a:solidFill>
              </a:rPr>
              <a:t>: The method by which the match was won (e.g., runs or wickets).</a:t>
            </a:r>
          </a:p>
          <a:p>
            <a:pPr lvl="0" fontAlgn="base"/>
            <a:r>
              <a:rPr lang="en-IN" dirty="0" err="1">
                <a:solidFill>
                  <a:schemeClr val="bg1"/>
                </a:solidFill>
              </a:rPr>
              <a:t>Win_Margin</a:t>
            </a:r>
            <a:r>
              <a:rPr lang="en-IN" dirty="0">
                <a:solidFill>
                  <a:schemeClr val="bg1"/>
                </a:solidFill>
              </a:rPr>
              <a:t>: The margin by which the match was won.</a:t>
            </a:r>
          </a:p>
          <a:p>
            <a:pPr lvl="0" fontAlgn="base"/>
            <a:r>
              <a:rPr lang="en-IN" dirty="0" err="1">
                <a:solidFill>
                  <a:schemeClr val="bg1"/>
                </a:solidFill>
              </a:rPr>
              <a:t>Venue_Id</a:t>
            </a:r>
            <a:r>
              <a:rPr lang="en-IN" dirty="0">
                <a:solidFill>
                  <a:schemeClr val="bg1"/>
                </a:solidFill>
              </a:rPr>
              <a:t>: Reference to the venue where the match was played.</a:t>
            </a:r>
          </a:p>
          <a:p>
            <a:pPr lvl="0" fontAlgn="base"/>
            <a:r>
              <a:rPr lang="en-IN" dirty="0" err="1">
                <a:solidFill>
                  <a:schemeClr val="bg1"/>
                </a:solidFill>
              </a:rPr>
              <a:t>Season_Id</a:t>
            </a:r>
            <a:r>
              <a:rPr lang="en-IN" dirty="0">
                <a:solidFill>
                  <a:schemeClr val="bg1"/>
                </a:solidFill>
              </a:rPr>
              <a:t>: The season in which the match occurred.</a:t>
            </a:r>
            <a:br>
              <a:rPr lang="en-IN" dirty="0">
                <a:solidFill>
                  <a:schemeClr val="bg1"/>
                </a:solidFill>
              </a:rPr>
            </a:br>
            <a:br>
              <a:rPr lang="en-IN" dirty="0">
                <a:solidFill>
                  <a:schemeClr val="bg1"/>
                </a:solidFill>
              </a:rPr>
            </a:br>
            <a:r>
              <a:rPr lang="en-IN" b="1" dirty="0">
                <a:solidFill>
                  <a:schemeClr val="bg1"/>
                </a:solidFill>
              </a:rPr>
              <a:t>Venue </a:t>
            </a:r>
            <a:endParaRPr lang="en-IN" dirty="0">
              <a:solidFill>
                <a:schemeClr val="bg1"/>
              </a:solidFill>
            </a:endParaRPr>
          </a:p>
          <a:p>
            <a:pPr lvl="0" fontAlgn="base"/>
            <a:r>
              <a:rPr lang="en-IN" dirty="0" err="1">
                <a:solidFill>
                  <a:schemeClr val="bg1"/>
                </a:solidFill>
              </a:rPr>
              <a:t>Venue_Id</a:t>
            </a:r>
            <a:r>
              <a:rPr lang="en-IN" dirty="0">
                <a:solidFill>
                  <a:schemeClr val="bg1"/>
                </a:solidFill>
              </a:rPr>
              <a:t>: Unique identifier for each venue.</a:t>
            </a:r>
          </a:p>
          <a:p>
            <a:pPr lvl="0" fontAlgn="base"/>
            <a:r>
              <a:rPr lang="en-IN" dirty="0" err="1">
                <a:solidFill>
                  <a:schemeClr val="bg1"/>
                </a:solidFill>
              </a:rPr>
              <a:t>Venue_Name</a:t>
            </a:r>
            <a:r>
              <a:rPr lang="en-IN" dirty="0">
                <a:solidFill>
                  <a:schemeClr val="bg1"/>
                </a:solidFill>
              </a:rPr>
              <a:t>: Name of the venue.</a:t>
            </a:r>
          </a:p>
          <a:p>
            <a:pPr lvl="0" fontAlgn="base"/>
            <a:r>
              <a:rPr lang="en-IN" dirty="0" err="1">
                <a:solidFill>
                  <a:schemeClr val="bg1"/>
                </a:solidFill>
              </a:rPr>
              <a:t>City_Id</a:t>
            </a:r>
            <a:r>
              <a:rPr lang="en-IN" dirty="0">
                <a:solidFill>
                  <a:schemeClr val="bg1"/>
                </a:solidFill>
              </a:rPr>
              <a:t>: Reference to the city where the venue is located.</a:t>
            </a:r>
          </a:p>
          <a:p>
            <a:endParaRPr lang="en-IN" dirty="0">
              <a:solidFill>
                <a:schemeClr val="bg1"/>
              </a:solidFill>
            </a:endParaRPr>
          </a:p>
        </p:txBody>
      </p:sp>
      <p:sp>
        <p:nvSpPr>
          <p:cNvPr id="4" name="TextBox 3">
            <a:extLst>
              <a:ext uri="{FF2B5EF4-FFF2-40B4-BE49-F238E27FC236}">
                <a16:creationId xmlns:a16="http://schemas.microsoft.com/office/drawing/2014/main" id="{B19C3903-BDDF-13CF-A973-A2CC739CECA4}"/>
              </a:ext>
            </a:extLst>
          </p:cNvPr>
          <p:cNvSpPr txBox="1"/>
          <p:nvPr/>
        </p:nvSpPr>
        <p:spPr>
          <a:xfrm>
            <a:off x="6498454" y="1216241"/>
            <a:ext cx="5584055" cy="5078313"/>
          </a:xfrm>
          <a:prstGeom prst="rect">
            <a:avLst/>
          </a:prstGeom>
          <a:noFill/>
        </p:spPr>
        <p:txBody>
          <a:bodyPr wrap="square" rtlCol="0">
            <a:spAutoFit/>
          </a:bodyPr>
          <a:lstStyle/>
          <a:p>
            <a:r>
              <a:rPr lang="en-IN" b="1" dirty="0">
                <a:solidFill>
                  <a:schemeClr val="bg1"/>
                </a:solidFill>
              </a:rPr>
              <a:t>Country</a:t>
            </a:r>
            <a:endParaRPr lang="en-IN" b="0" dirty="0">
              <a:solidFill>
                <a:schemeClr val="bg1"/>
              </a:solidFill>
              <a:effectLst/>
            </a:endParaRPr>
          </a:p>
          <a:p>
            <a:pPr lvl="0" fontAlgn="base"/>
            <a:r>
              <a:rPr lang="en-IN" dirty="0" err="1">
                <a:solidFill>
                  <a:schemeClr val="bg1"/>
                </a:solidFill>
              </a:rPr>
              <a:t>Country_Id</a:t>
            </a:r>
            <a:r>
              <a:rPr lang="en-IN" dirty="0">
                <a:solidFill>
                  <a:schemeClr val="bg1"/>
                </a:solidFill>
              </a:rPr>
              <a:t>: Unique identifier for each country.</a:t>
            </a:r>
          </a:p>
          <a:p>
            <a:pPr lvl="0" fontAlgn="base"/>
            <a:r>
              <a:rPr lang="en-IN" dirty="0" err="1">
                <a:solidFill>
                  <a:schemeClr val="bg1"/>
                </a:solidFill>
              </a:rPr>
              <a:t>Country_Name</a:t>
            </a:r>
            <a:r>
              <a:rPr lang="en-IN" dirty="0">
                <a:solidFill>
                  <a:schemeClr val="bg1"/>
                </a:solidFill>
              </a:rPr>
              <a:t>: Name of the country.</a:t>
            </a:r>
            <a:br>
              <a:rPr lang="en-IN" dirty="0">
                <a:solidFill>
                  <a:schemeClr val="bg1"/>
                </a:solidFill>
              </a:rPr>
            </a:br>
            <a:br>
              <a:rPr lang="en-IN" dirty="0">
                <a:solidFill>
                  <a:schemeClr val="bg1"/>
                </a:solidFill>
              </a:rPr>
            </a:br>
            <a:r>
              <a:rPr lang="en-IN" b="1" dirty="0">
                <a:solidFill>
                  <a:schemeClr val="bg1"/>
                </a:solidFill>
              </a:rPr>
              <a:t>Player Match </a:t>
            </a:r>
            <a:endParaRPr lang="en-IN" dirty="0">
              <a:solidFill>
                <a:schemeClr val="bg1"/>
              </a:solidFill>
            </a:endParaRPr>
          </a:p>
          <a:p>
            <a:pPr lvl="0" fontAlgn="base"/>
            <a:r>
              <a:rPr lang="en-IN" dirty="0" err="1">
                <a:solidFill>
                  <a:schemeClr val="bg1"/>
                </a:solidFill>
              </a:rPr>
              <a:t>Match_Id</a:t>
            </a:r>
            <a:r>
              <a:rPr lang="en-IN" dirty="0">
                <a:solidFill>
                  <a:schemeClr val="bg1"/>
                </a:solidFill>
              </a:rPr>
              <a:t>: Reference to the match in which the player participated.</a:t>
            </a:r>
          </a:p>
          <a:p>
            <a:pPr lvl="0" fontAlgn="base"/>
            <a:r>
              <a:rPr lang="en-IN" dirty="0" err="1">
                <a:solidFill>
                  <a:schemeClr val="bg1"/>
                </a:solidFill>
              </a:rPr>
              <a:t>Player_Id</a:t>
            </a:r>
            <a:r>
              <a:rPr lang="en-IN" dirty="0">
                <a:solidFill>
                  <a:schemeClr val="bg1"/>
                </a:solidFill>
              </a:rPr>
              <a:t>: Reference to the player.</a:t>
            </a:r>
          </a:p>
          <a:p>
            <a:pPr lvl="0" fontAlgn="base"/>
            <a:r>
              <a:rPr lang="en-IN" dirty="0" err="1">
                <a:solidFill>
                  <a:schemeClr val="bg1"/>
                </a:solidFill>
              </a:rPr>
              <a:t>Role_Id</a:t>
            </a:r>
            <a:r>
              <a:rPr lang="en-IN" dirty="0">
                <a:solidFill>
                  <a:schemeClr val="bg1"/>
                </a:solidFill>
              </a:rPr>
              <a:t>: Role of the player (e.g., batsman, bowler).</a:t>
            </a:r>
          </a:p>
          <a:p>
            <a:pPr lvl="0" fontAlgn="base"/>
            <a:r>
              <a:rPr lang="en-IN" dirty="0" err="1">
                <a:solidFill>
                  <a:schemeClr val="bg1"/>
                </a:solidFill>
              </a:rPr>
              <a:t>Team_Id</a:t>
            </a:r>
            <a:r>
              <a:rPr lang="en-IN" dirty="0">
                <a:solidFill>
                  <a:schemeClr val="bg1"/>
                </a:solidFill>
              </a:rPr>
              <a:t>: Team that the player represented in the match.</a:t>
            </a:r>
            <a:br>
              <a:rPr lang="en-IN" dirty="0">
                <a:solidFill>
                  <a:schemeClr val="bg1"/>
                </a:solidFill>
              </a:rPr>
            </a:br>
            <a:br>
              <a:rPr lang="en-IN" dirty="0">
                <a:solidFill>
                  <a:schemeClr val="bg1"/>
                </a:solidFill>
              </a:rPr>
            </a:br>
            <a:r>
              <a:rPr lang="en-IN" b="1" dirty="0">
                <a:solidFill>
                  <a:schemeClr val="bg1"/>
                </a:solidFill>
              </a:rPr>
              <a:t>Wickets Taken </a:t>
            </a:r>
            <a:endParaRPr lang="en-IN" dirty="0">
              <a:solidFill>
                <a:schemeClr val="bg1"/>
              </a:solidFill>
            </a:endParaRPr>
          </a:p>
          <a:p>
            <a:pPr lvl="0" fontAlgn="base"/>
            <a:r>
              <a:rPr lang="en-IN" dirty="0" err="1">
                <a:solidFill>
                  <a:schemeClr val="bg1"/>
                </a:solidFill>
              </a:rPr>
              <a:t>Ball_Id</a:t>
            </a:r>
            <a:r>
              <a:rPr lang="en-IN" dirty="0">
                <a:solidFill>
                  <a:schemeClr val="bg1"/>
                </a:solidFill>
              </a:rPr>
              <a:t>: Reference to the specific ball during which the wicket was taken.</a:t>
            </a:r>
          </a:p>
          <a:p>
            <a:pPr lvl="0" fontAlgn="base"/>
            <a:r>
              <a:rPr lang="en-IN" dirty="0">
                <a:solidFill>
                  <a:schemeClr val="bg1"/>
                </a:solidFill>
              </a:rPr>
              <a:t>Fielder: Reference to the player who fielded the ball.</a:t>
            </a:r>
          </a:p>
          <a:p>
            <a:pPr lvl="0" fontAlgn="base"/>
            <a:r>
              <a:rPr lang="en-IN" dirty="0">
                <a:solidFill>
                  <a:schemeClr val="bg1"/>
                </a:solidFill>
              </a:rPr>
              <a:t>Bowler: Reference to the bowler who took the wicket.</a:t>
            </a:r>
          </a:p>
          <a:p>
            <a:pPr lvl="0" fontAlgn="base"/>
            <a:r>
              <a:rPr lang="en-IN" dirty="0" err="1">
                <a:solidFill>
                  <a:schemeClr val="bg1"/>
                </a:solidFill>
              </a:rPr>
              <a:t>Player_Out</a:t>
            </a:r>
            <a:r>
              <a:rPr lang="en-IN" dirty="0">
                <a:solidFill>
                  <a:schemeClr val="bg1"/>
                </a:solidFill>
              </a:rPr>
              <a:t>: Reference to the player who was dismissed.</a:t>
            </a:r>
          </a:p>
          <a:p>
            <a:endParaRPr lang="en-IN" dirty="0">
              <a:solidFill>
                <a:schemeClr val="bg1"/>
              </a:solidFill>
            </a:endParaRPr>
          </a:p>
        </p:txBody>
      </p:sp>
    </p:spTree>
    <p:extLst>
      <p:ext uri="{BB962C8B-B14F-4D97-AF65-F5344CB8AC3E}">
        <p14:creationId xmlns:p14="http://schemas.microsoft.com/office/powerpoint/2010/main" val="3198800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B7692-F2CE-6A35-742B-C6AB2CCD102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9B67D28-7A0A-BB9E-C938-64F86F72CCC8}"/>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57F0B90D-FEF4-A79A-3BE9-50D0E5D40AB9}"/>
              </a:ext>
            </a:extLst>
          </p:cNvPr>
          <p:cNvSpPr txBox="1"/>
          <p:nvPr/>
        </p:nvSpPr>
        <p:spPr>
          <a:xfrm>
            <a:off x="1167788" y="1266940"/>
            <a:ext cx="4560984" cy="5078313"/>
          </a:xfrm>
          <a:prstGeom prst="rect">
            <a:avLst/>
          </a:prstGeom>
          <a:noFill/>
        </p:spPr>
        <p:txBody>
          <a:bodyPr wrap="square" rtlCol="0">
            <a:spAutoFit/>
          </a:bodyPr>
          <a:lstStyle/>
          <a:p>
            <a:r>
              <a:rPr lang="en-IN" b="1" dirty="0">
                <a:solidFill>
                  <a:schemeClr val="bg1"/>
                </a:solidFill>
              </a:rPr>
              <a:t>Extra Type</a:t>
            </a:r>
            <a:endParaRPr lang="en-IN" b="0" dirty="0">
              <a:solidFill>
                <a:schemeClr val="bg1"/>
              </a:solidFill>
              <a:effectLst/>
            </a:endParaRPr>
          </a:p>
          <a:p>
            <a:pPr lvl="0" fontAlgn="base"/>
            <a:r>
              <a:rPr lang="en-IN" dirty="0" err="1">
                <a:solidFill>
                  <a:schemeClr val="bg1"/>
                </a:solidFill>
              </a:rPr>
              <a:t>Extra_Type_Id</a:t>
            </a:r>
            <a:r>
              <a:rPr lang="en-IN" dirty="0">
                <a:solidFill>
                  <a:schemeClr val="bg1"/>
                </a:solidFill>
              </a:rPr>
              <a:t>: Unique identifier for the type of extra runs scored in a cricket match.</a:t>
            </a:r>
          </a:p>
          <a:p>
            <a:pPr lvl="0" fontAlgn="base"/>
            <a:r>
              <a:rPr lang="en-IN" dirty="0" err="1">
                <a:solidFill>
                  <a:schemeClr val="bg1"/>
                </a:solidFill>
              </a:rPr>
              <a:t>Extra_Runs</a:t>
            </a:r>
            <a:r>
              <a:rPr lang="en-IN" dirty="0">
                <a:solidFill>
                  <a:schemeClr val="bg1"/>
                </a:solidFill>
              </a:rPr>
              <a:t>: The number of extra runs scored in a particular delivery.</a:t>
            </a:r>
          </a:p>
          <a:p>
            <a:pPr lvl="0" fontAlgn="base"/>
            <a:r>
              <a:rPr lang="en-IN" dirty="0" err="1">
                <a:solidFill>
                  <a:schemeClr val="bg1"/>
                </a:solidFill>
              </a:rPr>
              <a:t>Innings_No</a:t>
            </a:r>
            <a:r>
              <a:rPr lang="en-IN" dirty="0">
                <a:solidFill>
                  <a:schemeClr val="bg1"/>
                </a:solidFill>
              </a:rPr>
              <a:t>: The innings number in a cricket match.</a:t>
            </a:r>
          </a:p>
          <a:p>
            <a:pPr lvl="0" fontAlgn="base"/>
            <a:r>
              <a:rPr lang="en-IN" dirty="0" err="1">
                <a:solidFill>
                  <a:schemeClr val="bg1"/>
                </a:solidFill>
              </a:rPr>
              <a:t>Extra_Id</a:t>
            </a:r>
            <a:r>
              <a:rPr lang="en-IN" dirty="0">
                <a:solidFill>
                  <a:schemeClr val="bg1"/>
                </a:solidFill>
              </a:rPr>
              <a:t>: Unique identifier for an instance of extra runs scored.</a:t>
            </a:r>
          </a:p>
          <a:p>
            <a:pPr lvl="0" fontAlgn="base"/>
            <a:r>
              <a:rPr lang="en-IN" dirty="0" err="1">
                <a:solidFill>
                  <a:schemeClr val="bg1"/>
                </a:solidFill>
              </a:rPr>
              <a:t>Extra_Name</a:t>
            </a:r>
            <a:r>
              <a:rPr lang="en-IN" dirty="0">
                <a:solidFill>
                  <a:schemeClr val="bg1"/>
                </a:solidFill>
              </a:rPr>
              <a:t>: The name or description of the type of extra runs scored (e.g., byes, leg byes, wides, no-balls).</a:t>
            </a:r>
          </a:p>
          <a:p>
            <a:r>
              <a:rPr lang="en-IN" b="1" dirty="0">
                <a:solidFill>
                  <a:schemeClr val="bg1"/>
                </a:solidFill>
              </a:rPr>
              <a:t>Season</a:t>
            </a:r>
            <a:endParaRPr lang="en-IN" b="0" dirty="0">
              <a:solidFill>
                <a:schemeClr val="bg1"/>
              </a:solidFill>
              <a:effectLst/>
            </a:endParaRPr>
          </a:p>
          <a:p>
            <a:pPr lvl="0" fontAlgn="base"/>
            <a:r>
              <a:rPr lang="en-IN" dirty="0" err="1">
                <a:solidFill>
                  <a:schemeClr val="bg1"/>
                </a:solidFill>
              </a:rPr>
              <a:t>Season_Id</a:t>
            </a:r>
            <a:r>
              <a:rPr lang="en-IN" dirty="0">
                <a:solidFill>
                  <a:schemeClr val="bg1"/>
                </a:solidFill>
              </a:rPr>
              <a:t>: Unique identifier for a particular season or tournament.</a:t>
            </a:r>
          </a:p>
          <a:p>
            <a:pPr lvl="0" fontAlgn="base"/>
            <a:r>
              <a:rPr lang="en-IN" dirty="0" err="1">
                <a:solidFill>
                  <a:schemeClr val="bg1"/>
                </a:solidFill>
              </a:rPr>
              <a:t>Venue_Id</a:t>
            </a:r>
            <a:r>
              <a:rPr lang="en-IN" dirty="0">
                <a:solidFill>
                  <a:schemeClr val="bg1"/>
                </a:solidFill>
              </a:rPr>
              <a:t>: Unique identifier for the venue or stadium where the match is played..</a:t>
            </a:r>
          </a:p>
          <a:p>
            <a:endParaRPr lang="en-IN" dirty="0">
              <a:solidFill>
                <a:schemeClr val="bg1"/>
              </a:solidFill>
            </a:endParaRPr>
          </a:p>
        </p:txBody>
      </p:sp>
      <p:sp>
        <p:nvSpPr>
          <p:cNvPr id="4" name="TextBox 3">
            <a:extLst>
              <a:ext uri="{FF2B5EF4-FFF2-40B4-BE49-F238E27FC236}">
                <a16:creationId xmlns:a16="http://schemas.microsoft.com/office/drawing/2014/main" id="{E4B979E4-E992-F1D4-9C02-7D9B0E78ED6E}"/>
              </a:ext>
            </a:extLst>
          </p:cNvPr>
          <p:cNvSpPr txBox="1"/>
          <p:nvPr/>
        </p:nvSpPr>
        <p:spPr>
          <a:xfrm>
            <a:off x="6334699" y="1266940"/>
            <a:ext cx="5431315" cy="5355312"/>
          </a:xfrm>
          <a:prstGeom prst="rect">
            <a:avLst/>
          </a:prstGeom>
          <a:noFill/>
        </p:spPr>
        <p:txBody>
          <a:bodyPr wrap="square" rtlCol="0">
            <a:spAutoFit/>
          </a:bodyPr>
          <a:lstStyle/>
          <a:p>
            <a:pPr fontAlgn="base"/>
            <a:r>
              <a:rPr lang="en-IN" b="1" dirty="0" err="1">
                <a:solidFill>
                  <a:schemeClr val="bg1"/>
                </a:solidFill>
              </a:rPr>
              <a:t>Win_By</a:t>
            </a:r>
            <a:endParaRPr lang="en-IN" dirty="0">
              <a:solidFill>
                <a:schemeClr val="bg1"/>
              </a:solidFill>
            </a:endParaRPr>
          </a:p>
          <a:p>
            <a:pPr lvl="0" fontAlgn="base"/>
            <a:r>
              <a:rPr lang="en-IN" dirty="0" err="1">
                <a:solidFill>
                  <a:schemeClr val="bg1"/>
                </a:solidFill>
              </a:rPr>
              <a:t>Win_Type</a:t>
            </a:r>
            <a:r>
              <a:rPr lang="en-IN" dirty="0">
                <a:solidFill>
                  <a:schemeClr val="bg1"/>
                </a:solidFill>
              </a:rPr>
              <a:t>: The type of win (e.g., runs, wickets) achieved by the winning team.</a:t>
            </a:r>
          </a:p>
          <a:p>
            <a:pPr lvl="0" fontAlgn="base"/>
            <a:r>
              <a:rPr lang="en-IN" dirty="0" err="1">
                <a:solidFill>
                  <a:schemeClr val="bg1"/>
                </a:solidFill>
              </a:rPr>
              <a:t>Win_Margin</a:t>
            </a:r>
            <a:r>
              <a:rPr lang="en-IN" dirty="0">
                <a:solidFill>
                  <a:schemeClr val="bg1"/>
                </a:solidFill>
              </a:rPr>
              <a:t>: The margin of victory (e.g., runs or wickets) for the winning team</a:t>
            </a:r>
            <a:r>
              <a:rPr lang="en-IN" b="1" dirty="0">
                <a:solidFill>
                  <a:schemeClr val="bg1"/>
                </a:solidFill>
              </a:rPr>
              <a:t>.</a:t>
            </a:r>
            <a:endParaRPr lang="en-IN" dirty="0">
              <a:solidFill>
                <a:schemeClr val="bg1"/>
              </a:solidFill>
            </a:endParaRPr>
          </a:p>
          <a:p>
            <a:r>
              <a:rPr lang="en-IN" b="1" dirty="0">
                <a:solidFill>
                  <a:schemeClr val="bg1"/>
                </a:solidFill>
              </a:rPr>
              <a:t>Outcome</a:t>
            </a:r>
            <a:endParaRPr lang="en-IN" b="0" dirty="0">
              <a:solidFill>
                <a:schemeClr val="bg1"/>
              </a:solidFill>
              <a:effectLst/>
            </a:endParaRPr>
          </a:p>
          <a:p>
            <a:pPr lvl="0" fontAlgn="base"/>
            <a:r>
              <a:rPr lang="en-IN" dirty="0" err="1">
                <a:solidFill>
                  <a:schemeClr val="bg1"/>
                </a:solidFill>
              </a:rPr>
              <a:t>Outcome_type</a:t>
            </a:r>
            <a:r>
              <a:rPr lang="en-IN" dirty="0">
                <a:solidFill>
                  <a:schemeClr val="bg1"/>
                </a:solidFill>
              </a:rPr>
              <a:t>: The type of outcome or result of the match (e.g., win, loss, tie, no result).</a:t>
            </a:r>
          </a:p>
          <a:p>
            <a:pPr lvl="0" fontAlgn="base"/>
            <a:r>
              <a:rPr lang="en-IN" dirty="0" err="1">
                <a:solidFill>
                  <a:schemeClr val="bg1"/>
                </a:solidFill>
              </a:rPr>
              <a:t>Match_Winner</a:t>
            </a:r>
            <a:r>
              <a:rPr lang="en-IN" dirty="0">
                <a:solidFill>
                  <a:schemeClr val="bg1"/>
                </a:solidFill>
              </a:rPr>
              <a:t>: The team that won the match.</a:t>
            </a:r>
          </a:p>
          <a:p>
            <a:pPr lvl="0" fontAlgn="base"/>
            <a:r>
              <a:rPr lang="en-IN" dirty="0" err="1">
                <a:solidFill>
                  <a:schemeClr val="bg1"/>
                </a:solidFill>
              </a:rPr>
              <a:t>Man_of_the_Match</a:t>
            </a:r>
            <a:r>
              <a:rPr lang="en-IN" dirty="0">
                <a:solidFill>
                  <a:schemeClr val="bg1"/>
                </a:solidFill>
              </a:rPr>
              <a:t>: The player awarded the Man of the Match award.</a:t>
            </a:r>
          </a:p>
          <a:p>
            <a:r>
              <a:rPr lang="en-IN" b="1" dirty="0" err="1">
                <a:solidFill>
                  <a:schemeClr val="bg1"/>
                </a:solidFill>
              </a:rPr>
              <a:t>Out_Type</a:t>
            </a:r>
            <a:endParaRPr lang="en-IN" b="0" dirty="0">
              <a:solidFill>
                <a:schemeClr val="bg1"/>
              </a:solidFill>
              <a:effectLst/>
            </a:endParaRPr>
          </a:p>
          <a:p>
            <a:pPr lvl="0" fontAlgn="base"/>
            <a:r>
              <a:rPr lang="en-IN" dirty="0" err="1">
                <a:solidFill>
                  <a:schemeClr val="bg1"/>
                </a:solidFill>
              </a:rPr>
              <a:t>Out_Id</a:t>
            </a:r>
            <a:r>
              <a:rPr lang="en-IN" dirty="0">
                <a:solidFill>
                  <a:schemeClr val="bg1"/>
                </a:solidFill>
              </a:rPr>
              <a:t>: Unique identifier for the type of dismissal or way a batsman got out.</a:t>
            </a:r>
          </a:p>
          <a:p>
            <a:pPr lvl="0" fontAlgn="base"/>
            <a:r>
              <a:rPr lang="en-IN" dirty="0" err="1">
                <a:solidFill>
                  <a:schemeClr val="bg1"/>
                </a:solidFill>
              </a:rPr>
              <a:t>Out_Name</a:t>
            </a:r>
            <a:r>
              <a:rPr lang="en-IN" dirty="0">
                <a:solidFill>
                  <a:schemeClr val="bg1"/>
                </a:solidFill>
              </a:rPr>
              <a:t>: The name or description of the type of dismissal (e.g., caught, bowled, lbw, run out).</a:t>
            </a:r>
          </a:p>
          <a:p>
            <a:pPr lvl="0" fontAlgn="base"/>
            <a:r>
              <a:rPr lang="en-IN" dirty="0" err="1">
                <a:solidFill>
                  <a:schemeClr val="bg1"/>
                </a:solidFill>
              </a:rPr>
              <a:t>Outcome_Id</a:t>
            </a:r>
            <a:r>
              <a:rPr lang="en-IN" dirty="0">
                <a:solidFill>
                  <a:schemeClr val="bg1"/>
                </a:solidFill>
              </a:rPr>
              <a:t>: Unique identifier for the outcome or result of a match.</a:t>
            </a:r>
          </a:p>
          <a:p>
            <a:endParaRPr lang="en-IN" dirty="0">
              <a:solidFill>
                <a:schemeClr val="bg1"/>
              </a:solidFill>
            </a:endParaRPr>
          </a:p>
        </p:txBody>
      </p:sp>
    </p:spTree>
    <p:extLst>
      <p:ext uri="{BB962C8B-B14F-4D97-AF65-F5344CB8AC3E}">
        <p14:creationId xmlns:p14="http://schemas.microsoft.com/office/powerpoint/2010/main" val="4245891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E8A6C-0FD6-A74E-B4CA-001D1FE80A4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5BDB05C-0BFE-FB86-9D49-0F7A178ABA83}"/>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6485BE47-4845-C4D7-2902-8E6E8D3B72B2}"/>
              </a:ext>
            </a:extLst>
          </p:cNvPr>
          <p:cNvSpPr txBox="1"/>
          <p:nvPr/>
        </p:nvSpPr>
        <p:spPr>
          <a:xfrm>
            <a:off x="1145754" y="1244906"/>
            <a:ext cx="4638101" cy="5078313"/>
          </a:xfrm>
          <a:prstGeom prst="rect">
            <a:avLst/>
          </a:prstGeom>
          <a:noFill/>
        </p:spPr>
        <p:txBody>
          <a:bodyPr wrap="square" rtlCol="0">
            <a:spAutoFit/>
          </a:bodyPr>
          <a:lstStyle/>
          <a:p>
            <a:r>
              <a:rPr lang="en-IN" b="1" dirty="0">
                <a:solidFill>
                  <a:schemeClr val="bg1"/>
                </a:solidFill>
              </a:rPr>
              <a:t>Rolee</a:t>
            </a:r>
            <a:endParaRPr lang="en-IN" b="0" dirty="0">
              <a:solidFill>
                <a:schemeClr val="bg1"/>
              </a:solidFill>
              <a:effectLst/>
            </a:endParaRPr>
          </a:p>
          <a:p>
            <a:pPr lvl="0" fontAlgn="base"/>
            <a:r>
              <a:rPr lang="en-IN" dirty="0" err="1">
                <a:solidFill>
                  <a:schemeClr val="bg1"/>
                </a:solidFill>
              </a:rPr>
              <a:t>Role_Id</a:t>
            </a:r>
            <a:r>
              <a:rPr lang="en-IN" dirty="0">
                <a:solidFill>
                  <a:schemeClr val="bg1"/>
                </a:solidFill>
              </a:rPr>
              <a:t>: Unique identifier for a player's role or skills (e.g., batsman, bowler, all-rounder).</a:t>
            </a:r>
          </a:p>
          <a:p>
            <a:pPr lvl="0" fontAlgn="base"/>
            <a:r>
              <a:rPr lang="en-IN" dirty="0" err="1">
                <a:solidFill>
                  <a:schemeClr val="bg1"/>
                </a:solidFill>
              </a:rPr>
              <a:t>Role_Desc</a:t>
            </a:r>
            <a:r>
              <a:rPr lang="en-IN" dirty="0">
                <a:solidFill>
                  <a:schemeClr val="bg1"/>
                </a:solidFill>
              </a:rPr>
              <a:t>: Description of a player's role or skills.</a:t>
            </a:r>
          </a:p>
          <a:p>
            <a:pPr lvl="0" fontAlgn="base"/>
            <a:r>
              <a:rPr lang="en-IN" dirty="0" err="1">
                <a:solidFill>
                  <a:schemeClr val="bg1"/>
                </a:solidFill>
              </a:rPr>
              <a:t>Man_of_the_Series</a:t>
            </a:r>
            <a:r>
              <a:rPr lang="en-IN" dirty="0">
                <a:solidFill>
                  <a:schemeClr val="bg1"/>
                </a:solidFill>
              </a:rPr>
              <a:t>: The player awarded the Man of the Series award for a particular tournament.</a:t>
            </a:r>
          </a:p>
          <a:p>
            <a:pPr lvl="0" fontAlgn="base"/>
            <a:r>
              <a:rPr lang="en-IN" dirty="0" err="1">
                <a:solidFill>
                  <a:schemeClr val="bg1"/>
                </a:solidFill>
              </a:rPr>
              <a:t>Orange_cap</a:t>
            </a:r>
            <a:r>
              <a:rPr lang="en-IN" dirty="0">
                <a:solidFill>
                  <a:schemeClr val="bg1"/>
                </a:solidFill>
              </a:rPr>
              <a:t>: The player awarded the Orange Cap (for most runs scored) in a particular tournament.</a:t>
            </a:r>
          </a:p>
          <a:p>
            <a:pPr lvl="0" fontAlgn="base"/>
            <a:r>
              <a:rPr lang="en-IN" dirty="0" err="1">
                <a:solidFill>
                  <a:schemeClr val="bg1"/>
                </a:solidFill>
              </a:rPr>
              <a:t>Purple_cap</a:t>
            </a:r>
            <a:r>
              <a:rPr lang="en-IN" dirty="0">
                <a:solidFill>
                  <a:schemeClr val="bg1"/>
                </a:solidFill>
              </a:rPr>
              <a:t>: The player awarded the Purple Cap (for most wickets taken) in a particular tournament.</a:t>
            </a:r>
          </a:p>
          <a:p>
            <a:r>
              <a:rPr lang="en-IN" b="1" dirty="0">
                <a:solidFill>
                  <a:schemeClr val="bg1"/>
                </a:solidFill>
              </a:rPr>
              <a:t>Team</a:t>
            </a:r>
            <a:endParaRPr lang="en-IN" b="0" dirty="0">
              <a:solidFill>
                <a:schemeClr val="bg1"/>
              </a:solidFill>
              <a:effectLst/>
            </a:endParaRPr>
          </a:p>
          <a:p>
            <a:pPr lvl="0" fontAlgn="base"/>
            <a:r>
              <a:rPr lang="en-IN" dirty="0" err="1">
                <a:solidFill>
                  <a:schemeClr val="bg1"/>
                </a:solidFill>
              </a:rPr>
              <a:t>Team_Id</a:t>
            </a:r>
            <a:r>
              <a:rPr lang="en-IN" dirty="0">
                <a:solidFill>
                  <a:schemeClr val="bg1"/>
                </a:solidFill>
              </a:rPr>
              <a:t>: Unique identifier for a team.</a:t>
            </a:r>
          </a:p>
          <a:p>
            <a:pPr lvl="0" fontAlgn="base"/>
            <a:r>
              <a:rPr lang="en-IN" dirty="0" err="1">
                <a:solidFill>
                  <a:schemeClr val="bg1"/>
                </a:solidFill>
              </a:rPr>
              <a:t>Team_Name</a:t>
            </a:r>
            <a:r>
              <a:rPr lang="en-IN" dirty="0">
                <a:solidFill>
                  <a:schemeClr val="bg1"/>
                </a:solidFill>
              </a:rPr>
              <a:t>: The name of a team.</a:t>
            </a:r>
          </a:p>
          <a:p>
            <a:endParaRPr lang="en-IN" dirty="0">
              <a:solidFill>
                <a:schemeClr val="bg1"/>
              </a:solidFill>
            </a:endParaRPr>
          </a:p>
        </p:txBody>
      </p:sp>
      <p:sp>
        <p:nvSpPr>
          <p:cNvPr id="4" name="TextBox 3">
            <a:extLst>
              <a:ext uri="{FF2B5EF4-FFF2-40B4-BE49-F238E27FC236}">
                <a16:creationId xmlns:a16="http://schemas.microsoft.com/office/drawing/2014/main" id="{0ABEE22D-EB22-6460-B067-9C77189A1E45}"/>
              </a:ext>
            </a:extLst>
          </p:cNvPr>
          <p:cNvSpPr txBox="1"/>
          <p:nvPr/>
        </p:nvSpPr>
        <p:spPr>
          <a:xfrm>
            <a:off x="6004193" y="1244906"/>
            <a:ext cx="5993176" cy="5909310"/>
          </a:xfrm>
          <a:prstGeom prst="rect">
            <a:avLst/>
          </a:prstGeom>
          <a:noFill/>
        </p:spPr>
        <p:txBody>
          <a:bodyPr wrap="square" rtlCol="0">
            <a:spAutoFit/>
          </a:bodyPr>
          <a:lstStyle/>
          <a:p>
            <a:r>
              <a:rPr lang="en-IN" b="1" dirty="0">
                <a:solidFill>
                  <a:schemeClr val="bg1"/>
                </a:solidFill>
              </a:rPr>
              <a:t>Umpire</a:t>
            </a:r>
            <a:endParaRPr lang="en-IN" b="0" dirty="0">
              <a:solidFill>
                <a:schemeClr val="bg1"/>
              </a:solidFill>
              <a:effectLst/>
            </a:endParaRPr>
          </a:p>
          <a:p>
            <a:pPr lvl="0" fontAlgn="base"/>
            <a:r>
              <a:rPr lang="en-IN" dirty="0" err="1">
                <a:solidFill>
                  <a:schemeClr val="bg1"/>
                </a:solidFill>
              </a:rPr>
              <a:t>Umpire_id</a:t>
            </a:r>
            <a:r>
              <a:rPr lang="en-IN" dirty="0">
                <a:solidFill>
                  <a:schemeClr val="bg1"/>
                </a:solidFill>
              </a:rPr>
              <a:t>: Unique identifier for an umpire officiating the match.</a:t>
            </a:r>
          </a:p>
          <a:p>
            <a:pPr lvl="0" fontAlgn="base"/>
            <a:r>
              <a:rPr lang="en-IN" dirty="0" err="1">
                <a:solidFill>
                  <a:schemeClr val="bg1"/>
                </a:solidFill>
              </a:rPr>
              <a:t>Umpire_name</a:t>
            </a:r>
            <a:r>
              <a:rPr lang="en-IN" dirty="0">
                <a:solidFill>
                  <a:schemeClr val="bg1"/>
                </a:solidFill>
              </a:rPr>
              <a:t>: The name of an umpire.</a:t>
            </a:r>
          </a:p>
          <a:p>
            <a:pPr lvl="0" fontAlgn="base"/>
            <a:r>
              <a:rPr lang="en-IN" dirty="0" err="1">
                <a:solidFill>
                  <a:schemeClr val="bg1"/>
                </a:solidFill>
              </a:rPr>
              <a:t>Umpire_country</a:t>
            </a:r>
            <a:r>
              <a:rPr lang="en-IN" dirty="0">
                <a:solidFill>
                  <a:schemeClr val="bg1"/>
                </a:solidFill>
              </a:rPr>
              <a:t>: The country or nationality of an umpire.</a:t>
            </a:r>
          </a:p>
          <a:p>
            <a:r>
              <a:rPr lang="en-IN" b="1" dirty="0">
                <a:solidFill>
                  <a:schemeClr val="bg1"/>
                </a:solidFill>
              </a:rPr>
              <a:t>Toss Decision</a:t>
            </a:r>
            <a:endParaRPr lang="en-IN" b="0" dirty="0">
              <a:solidFill>
                <a:schemeClr val="bg1"/>
              </a:solidFill>
              <a:effectLst/>
            </a:endParaRPr>
          </a:p>
          <a:p>
            <a:pPr lvl="0" fontAlgn="base"/>
            <a:r>
              <a:rPr lang="en-IN" dirty="0" err="1">
                <a:solidFill>
                  <a:schemeClr val="bg1"/>
                </a:solidFill>
              </a:rPr>
              <a:t>Toss_Name</a:t>
            </a:r>
            <a:r>
              <a:rPr lang="en-IN" dirty="0">
                <a:solidFill>
                  <a:schemeClr val="bg1"/>
                </a:solidFill>
              </a:rPr>
              <a:t>: The name or description of the toss (e.g., heads or tails).</a:t>
            </a:r>
          </a:p>
          <a:p>
            <a:r>
              <a:rPr lang="en-IN" b="1" dirty="0">
                <a:solidFill>
                  <a:schemeClr val="bg1"/>
                </a:solidFill>
              </a:rPr>
              <a:t>Player</a:t>
            </a:r>
            <a:endParaRPr lang="en-IN" b="0" dirty="0">
              <a:solidFill>
                <a:schemeClr val="bg1"/>
              </a:solidFill>
              <a:effectLst/>
            </a:endParaRPr>
          </a:p>
          <a:p>
            <a:pPr lvl="0" fontAlgn="base"/>
            <a:r>
              <a:rPr lang="en-IN" dirty="0" err="1">
                <a:solidFill>
                  <a:schemeClr val="bg1"/>
                </a:solidFill>
              </a:rPr>
              <a:t>Player_Id</a:t>
            </a:r>
            <a:r>
              <a:rPr lang="en-IN" dirty="0">
                <a:solidFill>
                  <a:schemeClr val="bg1"/>
                </a:solidFill>
              </a:rPr>
              <a:t>: Unique identifier for a player.</a:t>
            </a:r>
          </a:p>
          <a:p>
            <a:pPr lvl="0" fontAlgn="base"/>
            <a:r>
              <a:rPr lang="en-IN" dirty="0" err="1">
                <a:solidFill>
                  <a:schemeClr val="bg1"/>
                </a:solidFill>
              </a:rPr>
              <a:t>Player_Name</a:t>
            </a:r>
            <a:r>
              <a:rPr lang="en-IN" dirty="0">
                <a:solidFill>
                  <a:schemeClr val="bg1"/>
                </a:solidFill>
              </a:rPr>
              <a:t>: The name of a player.</a:t>
            </a:r>
          </a:p>
          <a:p>
            <a:r>
              <a:rPr lang="en-IN" b="1" dirty="0">
                <a:solidFill>
                  <a:schemeClr val="bg1"/>
                </a:solidFill>
              </a:rPr>
              <a:t>Extra Runs </a:t>
            </a:r>
            <a:endParaRPr lang="en-IN" b="0" dirty="0">
              <a:solidFill>
                <a:schemeClr val="bg1"/>
              </a:solidFill>
              <a:effectLst/>
            </a:endParaRPr>
          </a:p>
          <a:p>
            <a:pPr lvl="0" fontAlgn="base"/>
            <a:r>
              <a:rPr lang="en-IN" dirty="0" err="1">
                <a:solidFill>
                  <a:schemeClr val="bg1"/>
                </a:solidFill>
              </a:rPr>
              <a:t>Ball_Id</a:t>
            </a:r>
            <a:r>
              <a:rPr lang="en-IN" dirty="0">
                <a:solidFill>
                  <a:schemeClr val="bg1"/>
                </a:solidFill>
              </a:rPr>
              <a:t>: Reference to the specific ball during which extra runs were conceded.</a:t>
            </a:r>
          </a:p>
          <a:p>
            <a:pPr lvl="0" fontAlgn="base"/>
            <a:r>
              <a:rPr lang="en-IN" dirty="0" err="1">
                <a:solidFill>
                  <a:schemeClr val="bg1"/>
                </a:solidFill>
              </a:rPr>
              <a:t>Extra_Type_Id</a:t>
            </a:r>
            <a:r>
              <a:rPr lang="en-IN" dirty="0">
                <a:solidFill>
                  <a:schemeClr val="bg1"/>
                </a:solidFill>
              </a:rPr>
              <a:t>: Type of extra run (e.g., wide, no-ball).</a:t>
            </a:r>
          </a:p>
          <a:p>
            <a:pPr lvl="0" fontAlgn="base"/>
            <a:r>
              <a:rPr lang="en-IN" dirty="0" err="1">
                <a:solidFill>
                  <a:schemeClr val="bg1"/>
                </a:solidFill>
              </a:rPr>
              <a:t>Innings_No</a:t>
            </a:r>
            <a:r>
              <a:rPr lang="en-IN" dirty="0">
                <a:solidFill>
                  <a:schemeClr val="bg1"/>
                </a:solidFill>
              </a:rPr>
              <a:t>: The innings number during which the extra run occurred.</a:t>
            </a:r>
          </a:p>
          <a:p>
            <a:pPr lvl="0" fontAlgn="base"/>
            <a:r>
              <a:rPr lang="en-IN" dirty="0" err="1">
                <a:solidFill>
                  <a:schemeClr val="bg1"/>
                </a:solidFill>
              </a:rPr>
              <a:t>Match_Id</a:t>
            </a:r>
            <a:r>
              <a:rPr lang="en-IN" dirty="0">
                <a:solidFill>
                  <a:schemeClr val="bg1"/>
                </a:solidFill>
              </a:rPr>
              <a:t>: Reference to the match in which the extra runs were conceded.</a:t>
            </a:r>
          </a:p>
          <a:p>
            <a:pPr lvl="0" fontAlgn="base"/>
            <a:endParaRPr lang="en-IN" dirty="0">
              <a:solidFill>
                <a:schemeClr val="bg1"/>
              </a:solidFill>
            </a:endParaRPr>
          </a:p>
          <a:p>
            <a:endParaRPr lang="en-IN" dirty="0">
              <a:solidFill>
                <a:schemeClr val="bg1"/>
              </a:solidFill>
            </a:endParaRPr>
          </a:p>
        </p:txBody>
      </p:sp>
    </p:spTree>
    <p:extLst>
      <p:ext uri="{BB962C8B-B14F-4D97-AF65-F5344CB8AC3E}">
        <p14:creationId xmlns:p14="http://schemas.microsoft.com/office/powerpoint/2010/main" val="3408727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3490D-178B-88A1-B19E-6674936FFD8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2C828EF-E2A5-64B7-C6FC-F373313B50F8}"/>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TextBox 9">
            <a:extLst>
              <a:ext uri="{FF2B5EF4-FFF2-40B4-BE49-F238E27FC236}">
                <a16:creationId xmlns:a16="http://schemas.microsoft.com/office/drawing/2014/main" id="{39FB45CD-70EB-60BC-9350-BC9F832ECCE8}"/>
              </a:ext>
            </a:extLst>
          </p:cNvPr>
          <p:cNvSpPr txBox="1"/>
          <p:nvPr/>
        </p:nvSpPr>
        <p:spPr>
          <a:xfrm>
            <a:off x="477454" y="2114307"/>
            <a:ext cx="4870050" cy="3293209"/>
          </a:xfrm>
          <a:prstGeom prst="rect">
            <a:avLst/>
          </a:prstGeom>
          <a:noFill/>
        </p:spPr>
        <p:txBody>
          <a:bodyPr wrap="square">
            <a:spAutoFit/>
          </a:bodyPr>
          <a:lstStyle/>
          <a:p>
            <a:r>
              <a:rPr lang="en-GB" sz="1300" b="1" dirty="0">
                <a:solidFill>
                  <a:schemeClr val="bg1"/>
                </a:solidFill>
              </a:rPr>
              <a:t>Insights:-</a:t>
            </a:r>
            <a:r>
              <a:rPr lang="en-GB" sz="1300" dirty="0">
                <a:solidFill>
                  <a:schemeClr val="bg1"/>
                </a:solidFill>
              </a:rPr>
              <a:t>This visualization shows how RCB's performance changed across different seasons. We can see that the team had some strong periods, but maintaining consistency was a challenge. This suggests that RCB should focus not only on individual performance, but also on maintaining a balanced and consistent team throughout the season.</a:t>
            </a:r>
          </a:p>
          <a:p>
            <a:r>
              <a:rPr lang="en-GB" sz="1300" dirty="0">
                <a:solidFill>
                  <a:schemeClr val="bg1"/>
                </a:solidFill>
              </a:rPr>
              <a:t>Some seasons show strong performance, while in others the team struggled to maintain the same level.</a:t>
            </a:r>
          </a:p>
          <a:p>
            <a:r>
              <a:rPr lang="en-GB" sz="1300" dirty="0">
                <a:solidFill>
                  <a:schemeClr val="bg1"/>
                </a:solidFill>
              </a:rPr>
              <a:t>A team cannot depend on good performance in only a few seasons; regular performance is important for winning the tournament.</a:t>
            </a:r>
          </a:p>
          <a:p>
            <a:r>
              <a:rPr lang="en-GB" sz="1300" dirty="0">
                <a:solidFill>
                  <a:schemeClr val="bg1"/>
                </a:solidFill>
              </a:rPr>
              <a:t>Good batting alone is not enough if the bowling unit cannot control the opposition.</a:t>
            </a:r>
          </a:p>
          <a:p>
            <a:r>
              <a:rPr lang="en-GB" sz="1300" dirty="0">
                <a:solidFill>
                  <a:schemeClr val="bg1"/>
                </a:solidFill>
              </a:rPr>
              <a:t>This suggests that RCB may have struggled to maintain momentum throughout the seasons.</a:t>
            </a:r>
          </a:p>
          <a:p>
            <a:r>
              <a:rPr lang="en-GB" sz="1300" dirty="0">
                <a:solidFill>
                  <a:schemeClr val="bg1"/>
                </a:solidFill>
              </a:rPr>
              <a:t>RCB should have a proper combination of reliable batsmen, wicket-taking bowlers, and quality all-rounders.</a:t>
            </a:r>
          </a:p>
        </p:txBody>
      </p:sp>
      <p:graphicFrame>
        <p:nvGraphicFramePr>
          <p:cNvPr id="12" name="Chart 11">
            <a:extLst>
              <a:ext uri="{FF2B5EF4-FFF2-40B4-BE49-F238E27FC236}">
                <a16:creationId xmlns:a16="http://schemas.microsoft.com/office/drawing/2014/main" id="{C9482FBF-EDED-2850-A351-702A4123C4C8}"/>
              </a:ext>
            </a:extLst>
          </p:cNvPr>
          <p:cNvGraphicFramePr>
            <a:graphicFrameLocks/>
          </p:cNvGraphicFramePr>
          <p:nvPr>
            <p:extLst>
              <p:ext uri="{D42A27DB-BD31-4B8C-83A1-F6EECF244321}">
                <p14:modId xmlns:p14="http://schemas.microsoft.com/office/powerpoint/2010/main" val="308187271"/>
              </p:ext>
            </p:extLst>
          </p:nvPr>
        </p:nvGraphicFramePr>
        <p:xfrm>
          <a:off x="5824958" y="607103"/>
          <a:ext cx="4777381" cy="5643794"/>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a:extLst>
              <a:ext uri="{FF2B5EF4-FFF2-40B4-BE49-F238E27FC236}">
                <a16:creationId xmlns:a16="http://schemas.microsoft.com/office/drawing/2014/main" id="{704B39E0-1DA0-891B-B83D-784116F7005C}"/>
              </a:ext>
            </a:extLst>
          </p:cNvPr>
          <p:cNvSpPr txBox="1"/>
          <p:nvPr/>
        </p:nvSpPr>
        <p:spPr>
          <a:xfrm>
            <a:off x="1004086" y="1406467"/>
            <a:ext cx="3816787" cy="400110"/>
          </a:xfrm>
          <a:prstGeom prst="rect">
            <a:avLst/>
          </a:prstGeom>
          <a:noFill/>
        </p:spPr>
        <p:txBody>
          <a:bodyPr wrap="square">
            <a:spAutoFit/>
          </a:bodyPr>
          <a:lstStyle/>
          <a:p>
            <a:r>
              <a:rPr lang="en-GB" sz="2000" b="1" dirty="0">
                <a:solidFill>
                  <a:schemeClr val="bg1"/>
                </a:solidFill>
              </a:rPr>
              <a:t>RCB Season-wise Performance</a:t>
            </a:r>
            <a:endParaRPr lang="en-IN" dirty="0">
              <a:solidFill>
                <a:schemeClr val="bg1"/>
              </a:solidFill>
            </a:endParaRPr>
          </a:p>
        </p:txBody>
      </p:sp>
    </p:spTree>
    <p:extLst>
      <p:ext uri="{BB962C8B-B14F-4D97-AF65-F5344CB8AC3E}">
        <p14:creationId xmlns:p14="http://schemas.microsoft.com/office/powerpoint/2010/main" val="2893961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25C82-9DA7-5005-A6D9-7EC29D61A63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66FEDFE-D2E5-7868-87B7-953A3D43A11F}"/>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764DDBB7-698B-77E8-95DB-F5A89BAA6B4C}"/>
              </a:ext>
            </a:extLst>
          </p:cNvPr>
          <p:cNvSpPr txBox="1"/>
          <p:nvPr/>
        </p:nvSpPr>
        <p:spPr>
          <a:xfrm>
            <a:off x="694481" y="1813168"/>
            <a:ext cx="4271058" cy="4431983"/>
          </a:xfrm>
          <a:prstGeom prst="rect">
            <a:avLst/>
          </a:prstGeom>
          <a:noFill/>
        </p:spPr>
        <p:txBody>
          <a:bodyPr wrap="square">
            <a:spAutoFit/>
          </a:bodyPr>
          <a:lstStyle/>
          <a:p>
            <a:r>
              <a:rPr lang="en-GB" b="1" dirty="0">
                <a:solidFill>
                  <a:schemeClr val="bg1"/>
                </a:solidFill>
              </a:rPr>
              <a:t>Insights:-</a:t>
            </a:r>
          </a:p>
          <a:p>
            <a:r>
              <a:rPr lang="en-GB" sz="1400" b="1" dirty="0">
                <a:solidFill>
                  <a:schemeClr val="bg1"/>
                </a:solidFill>
              </a:rPr>
              <a:t>M </a:t>
            </a:r>
            <a:r>
              <a:rPr lang="en-GB" sz="1400" b="1" dirty="0" err="1">
                <a:solidFill>
                  <a:schemeClr val="bg1"/>
                </a:solidFill>
              </a:rPr>
              <a:t>Chinnaswamy</a:t>
            </a:r>
            <a:r>
              <a:rPr lang="en-GB" sz="1400" b="1" dirty="0">
                <a:solidFill>
                  <a:schemeClr val="bg1"/>
                </a:solidFill>
              </a:rPr>
              <a:t> Stadium clearly stands out</a:t>
            </a:r>
            <a:r>
              <a:rPr lang="en-GB" sz="1400" dirty="0">
                <a:solidFill>
                  <a:schemeClr val="bg1"/>
                </a:solidFill>
              </a:rPr>
              <a:t>, with </a:t>
            </a:r>
            <a:r>
              <a:rPr lang="en-GB" sz="1400" b="1" dirty="0">
                <a:solidFill>
                  <a:schemeClr val="bg1"/>
                </a:solidFill>
              </a:rPr>
              <a:t>16 wins,</a:t>
            </a:r>
            <a:r>
              <a:rPr lang="en-GB" sz="1400" dirty="0">
                <a:solidFill>
                  <a:schemeClr val="bg1"/>
                </a:solidFill>
              </a:rPr>
              <a:t> showing that RCB has performed strongly at its home venue.</a:t>
            </a:r>
          </a:p>
          <a:p>
            <a:r>
              <a:rPr lang="en-GB" sz="1400" dirty="0">
                <a:solidFill>
                  <a:schemeClr val="bg1"/>
                </a:solidFill>
              </a:rPr>
              <a:t>Other venues have comparatively fewer wins, which indicates that </a:t>
            </a:r>
            <a:r>
              <a:rPr lang="en-GB" sz="1400" b="1" dirty="0">
                <a:solidFill>
                  <a:schemeClr val="bg1"/>
                </a:solidFill>
              </a:rPr>
              <a:t>home advantage may have played an important role</a:t>
            </a:r>
            <a:r>
              <a:rPr lang="en-GB" sz="1400" dirty="0">
                <a:solidFill>
                  <a:schemeClr val="bg1"/>
                </a:solidFill>
              </a:rPr>
              <a:t>.</a:t>
            </a:r>
          </a:p>
          <a:p>
            <a:r>
              <a:rPr lang="en-GB" sz="1400" dirty="0">
                <a:solidFill>
                  <a:schemeClr val="bg1"/>
                </a:solidFill>
              </a:rPr>
              <a:t>RCB's performance away from home has been more mixed, so the team should focus on </a:t>
            </a:r>
            <a:r>
              <a:rPr lang="en-GB" sz="1400" b="1" dirty="0">
                <a:solidFill>
                  <a:schemeClr val="bg1"/>
                </a:solidFill>
              </a:rPr>
              <a:t>adapting to different pitch and ground conditions</a:t>
            </a:r>
            <a:r>
              <a:rPr lang="en-GB" sz="1400" dirty="0">
                <a:solidFill>
                  <a:schemeClr val="bg1"/>
                </a:solidFill>
              </a:rPr>
              <a:t>.</a:t>
            </a:r>
          </a:p>
          <a:p>
            <a:r>
              <a:rPr lang="en-GB" sz="1400" dirty="0">
                <a:solidFill>
                  <a:schemeClr val="bg1"/>
                </a:solidFill>
              </a:rPr>
              <a:t>RCB should not depend only on home-ground advantage; building a team that can perform consistently at different venues is important for winning the tournament.</a:t>
            </a:r>
          </a:p>
          <a:p>
            <a:r>
              <a:rPr lang="en-GB" sz="1400" dirty="0">
                <a:solidFill>
                  <a:schemeClr val="bg1"/>
                </a:solidFill>
              </a:rPr>
              <a:t>When I looked at RCB's wins venue-wise, the first thing that stood out was the strong performance at M </a:t>
            </a:r>
            <a:r>
              <a:rPr lang="en-GB" sz="1400" dirty="0" err="1">
                <a:solidFill>
                  <a:schemeClr val="bg1"/>
                </a:solidFill>
              </a:rPr>
              <a:t>Chinnaswamy</a:t>
            </a:r>
            <a:r>
              <a:rPr lang="en-GB" sz="1400" dirty="0">
                <a:solidFill>
                  <a:schemeClr val="bg1"/>
                </a:solidFill>
              </a:rPr>
              <a:t> Stadium. However, wins at other venues are much lower. This tells us that RCB should focus on becoming more adaptable to different conditions rather than depending heavily on home advantage</a:t>
            </a:r>
            <a:endParaRPr lang="en-GB" sz="1400" b="1" dirty="0">
              <a:solidFill>
                <a:schemeClr val="bg1"/>
              </a:solidFill>
            </a:endParaRPr>
          </a:p>
        </p:txBody>
      </p:sp>
      <p:graphicFrame>
        <p:nvGraphicFramePr>
          <p:cNvPr id="6" name="Chart 5">
            <a:extLst>
              <a:ext uri="{FF2B5EF4-FFF2-40B4-BE49-F238E27FC236}">
                <a16:creationId xmlns:a16="http://schemas.microsoft.com/office/drawing/2014/main" id="{942477F8-8249-BB38-9C23-66A22A8DE09F}"/>
              </a:ext>
            </a:extLst>
          </p:cNvPr>
          <p:cNvGraphicFramePr>
            <a:graphicFrameLocks/>
          </p:cNvGraphicFramePr>
          <p:nvPr>
            <p:extLst>
              <p:ext uri="{D42A27DB-BD31-4B8C-83A1-F6EECF244321}">
                <p14:modId xmlns:p14="http://schemas.microsoft.com/office/powerpoint/2010/main" val="607936382"/>
              </p:ext>
            </p:extLst>
          </p:nvPr>
        </p:nvGraphicFramePr>
        <p:xfrm>
          <a:off x="4664597" y="2059966"/>
          <a:ext cx="7442522" cy="4431983"/>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FC904DBB-632F-1AF7-ED1A-0C7812D32BD4}"/>
              </a:ext>
            </a:extLst>
          </p:cNvPr>
          <p:cNvSpPr txBox="1"/>
          <p:nvPr/>
        </p:nvSpPr>
        <p:spPr>
          <a:xfrm>
            <a:off x="694481" y="1244070"/>
            <a:ext cx="6209818" cy="461665"/>
          </a:xfrm>
          <a:prstGeom prst="rect">
            <a:avLst/>
          </a:prstGeom>
          <a:noFill/>
        </p:spPr>
        <p:txBody>
          <a:bodyPr wrap="square">
            <a:spAutoFit/>
          </a:bodyPr>
          <a:lstStyle/>
          <a:p>
            <a:r>
              <a:rPr lang="en-GB" sz="2400" b="1" dirty="0">
                <a:solidFill>
                  <a:schemeClr val="bg1"/>
                </a:solidFill>
              </a:rPr>
              <a:t>RCB Wins by Venue</a:t>
            </a:r>
            <a:endParaRPr lang="en-IN" sz="2800" dirty="0">
              <a:solidFill>
                <a:schemeClr val="bg1"/>
              </a:solidFill>
            </a:endParaRPr>
          </a:p>
        </p:txBody>
      </p:sp>
    </p:spTree>
    <p:extLst>
      <p:ext uri="{BB962C8B-B14F-4D97-AF65-F5344CB8AC3E}">
        <p14:creationId xmlns:p14="http://schemas.microsoft.com/office/powerpoint/2010/main" val="3996367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A9E9B-2990-CFC0-2B54-36495B73628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B02C42D-4995-6C66-AF4E-D2ACA9104BF3}"/>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C851DB6C-F2FE-831B-80C2-A31B0B7E55A5}"/>
              </a:ext>
            </a:extLst>
          </p:cNvPr>
          <p:cNvSpPr txBox="1"/>
          <p:nvPr/>
        </p:nvSpPr>
        <p:spPr>
          <a:xfrm>
            <a:off x="188088" y="1125775"/>
            <a:ext cx="5101541" cy="769441"/>
          </a:xfrm>
          <a:prstGeom prst="rect">
            <a:avLst/>
          </a:prstGeom>
          <a:noFill/>
        </p:spPr>
        <p:txBody>
          <a:bodyPr wrap="square">
            <a:spAutoFit/>
          </a:bodyPr>
          <a:lstStyle/>
          <a:p>
            <a:r>
              <a:rPr lang="en-GB" sz="4400" b="1" dirty="0">
                <a:solidFill>
                  <a:schemeClr val="bg1"/>
                </a:solidFill>
              </a:rPr>
              <a:t>Toss vs Match Result</a:t>
            </a:r>
            <a:endParaRPr lang="en-IN" dirty="0">
              <a:solidFill>
                <a:schemeClr val="bg1"/>
              </a:solidFill>
            </a:endParaRPr>
          </a:p>
        </p:txBody>
      </p:sp>
      <p:sp>
        <p:nvSpPr>
          <p:cNvPr id="6" name="TextBox 5">
            <a:extLst>
              <a:ext uri="{FF2B5EF4-FFF2-40B4-BE49-F238E27FC236}">
                <a16:creationId xmlns:a16="http://schemas.microsoft.com/office/drawing/2014/main" id="{4DE41B66-67EF-F6F0-9EF2-074A18F91A73}"/>
              </a:ext>
            </a:extLst>
          </p:cNvPr>
          <p:cNvSpPr txBox="1"/>
          <p:nvPr/>
        </p:nvSpPr>
        <p:spPr>
          <a:xfrm>
            <a:off x="358816" y="2128638"/>
            <a:ext cx="4803494" cy="2862322"/>
          </a:xfrm>
          <a:prstGeom prst="rect">
            <a:avLst/>
          </a:prstGeom>
          <a:noFill/>
        </p:spPr>
        <p:txBody>
          <a:bodyPr wrap="square">
            <a:spAutoFit/>
          </a:bodyPr>
          <a:lstStyle/>
          <a:p>
            <a:pPr lvl="0"/>
            <a:r>
              <a:rPr lang="en-GB" b="1" dirty="0">
                <a:solidFill>
                  <a:schemeClr val="bg1"/>
                </a:solidFill>
              </a:rPr>
              <a:t>Insights:- Out of 153 matches, </a:t>
            </a:r>
            <a:r>
              <a:rPr lang="en-GB" dirty="0">
                <a:solidFill>
                  <a:schemeClr val="bg1"/>
                </a:solidFill>
              </a:rPr>
              <a:t>the </a:t>
            </a:r>
            <a:r>
              <a:rPr lang="en-GB" b="1" dirty="0">
                <a:solidFill>
                  <a:schemeClr val="bg1"/>
                </a:solidFill>
              </a:rPr>
              <a:t>toss winner won 85 matches, </a:t>
            </a:r>
            <a:r>
              <a:rPr lang="en-GB" dirty="0">
                <a:solidFill>
                  <a:schemeClr val="bg1"/>
                </a:solidFill>
              </a:rPr>
              <a:t>giving a</a:t>
            </a:r>
            <a:r>
              <a:rPr lang="en-GB" b="1" dirty="0">
                <a:solidFill>
                  <a:schemeClr val="bg1"/>
                </a:solidFill>
              </a:rPr>
              <a:t> 55.56% </a:t>
            </a:r>
            <a:r>
              <a:rPr lang="en-GB" dirty="0">
                <a:solidFill>
                  <a:schemeClr val="bg1"/>
                </a:solidFill>
              </a:rPr>
              <a:t>success rate. </a:t>
            </a:r>
          </a:p>
          <a:p>
            <a:pPr lvl="0"/>
            <a:r>
              <a:rPr lang="en-GB" dirty="0">
                <a:solidFill>
                  <a:schemeClr val="bg1"/>
                </a:solidFill>
              </a:rPr>
              <a:t>This shows that winning the toss gives some advantage, but it does not guarantee winning the match. </a:t>
            </a:r>
          </a:p>
          <a:p>
            <a:pPr lvl="0"/>
            <a:endParaRPr lang="en-GB" dirty="0">
              <a:solidFill>
                <a:schemeClr val="bg1"/>
              </a:solidFill>
            </a:endParaRPr>
          </a:p>
          <a:p>
            <a:pPr lvl="0"/>
            <a:r>
              <a:rPr lang="en-GB" dirty="0">
                <a:solidFill>
                  <a:schemeClr val="bg1"/>
                </a:solidFill>
              </a:rPr>
              <a:t>The remaining 68 matches were won by the team that lost the toss, which shows that team performance is still more important than the toss.</a:t>
            </a:r>
          </a:p>
        </p:txBody>
      </p:sp>
      <p:graphicFrame>
        <p:nvGraphicFramePr>
          <p:cNvPr id="8" name="Chart 7">
            <a:extLst>
              <a:ext uri="{FF2B5EF4-FFF2-40B4-BE49-F238E27FC236}">
                <a16:creationId xmlns:a16="http://schemas.microsoft.com/office/drawing/2014/main" id="{85ED5CA2-A7FE-D163-341C-3A0A9A48A2B9}"/>
              </a:ext>
            </a:extLst>
          </p:cNvPr>
          <p:cNvGraphicFramePr>
            <a:graphicFrameLocks/>
          </p:cNvGraphicFramePr>
          <p:nvPr>
            <p:extLst>
              <p:ext uri="{D42A27DB-BD31-4B8C-83A1-F6EECF244321}">
                <p14:modId xmlns:p14="http://schemas.microsoft.com/office/powerpoint/2010/main" val="1452504094"/>
              </p:ext>
            </p:extLst>
          </p:nvPr>
        </p:nvGraphicFramePr>
        <p:xfrm>
          <a:off x="6096000" y="629062"/>
          <a:ext cx="4747547" cy="559987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33459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37FBA-90DE-73C0-33C3-28E064BACF7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4D82A01-778D-876B-8E1D-CB04E718EB7D}"/>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E125CCA2-9576-1CF8-5213-3FC5795E6FD6}"/>
              </a:ext>
            </a:extLst>
          </p:cNvPr>
          <p:cNvSpPr txBox="1"/>
          <p:nvPr/>
        </p:nvSpPr>
        <p:spPr>
          <a:xfrm>
            <a:off x="393539" y="1520780"/>
            <a:ext cx="4722471" cy="4524315"/>
          </a:xfrm>
          <a:prstGeom prst="rect">
            <a:avLst/>
          </a:prstGeom>
          <a:noFill/>
        </p:spPr>
        <p:txBody>
          <a:bodyPr wrap="square">
            <a:spAutoFit/>
          </a:bodyPr>
          <a:lstStyle/>
          <a:p>
            <a:pPr lvl="0"/>
            <a:r>
              <a:rPr lang="en-GB" sz="1800" b="1" dirty="0">
                <a:solidFill>
                  <a:schemeClr val="bg1"/>
                </a:solidFill>
              </a:rPr>
              <a:t>Insights:-</a:t>
            </a:r>
            <a:r>
              <a:rPr lang="en-GB" sz="1800" dirty="0">
                <a:solidFill>
                  <a:schemeClr val="bg1"/>
                </a:solidFill>
              </a:rPr>
              <a:t>I would not select a player just by looking at total runs, A good player should be able to contribute to the team in different situations. </a:t>
            </a:r>
          </a:p>
          <a:p>
            <a:pPr lvl="0"/>
            <a:r>
              <a:rPr lang="en-GB" sz="1800" b="1" dirty="0">
                <a:solidFill>
                  <a:schemeClr val="bg1"/>
                </a:solidFill>
              </a:rPr>
              <a:t>CH Gayle stands out because of his strong batting contribution</a:t>
            </a:r>
            <a:r>
              <a:rPr lang="en-GB" sz="1800" dirty="0">
                <a:solidFill>
                  <a:schemeClr val="bg1"/>
                </a:solidFill>
              </a:rPr>
              <a:t>, which makes him a valuable option for the team. </a:t>
            </a:r>
          </a:p>
          <a:p>
            <a:pPr lvl="0"/>
            <a:r>
              <a:rPr lang="en-GB" sz="1800" b="1" dirty="0">
                <a:solidFill>
                  <a:schemeClr val="bg1"/>
                </a:solidFill>
              </a:rPr>
              <a:t>JH Kallis and KA Pollard offer more balanced value</a:t>
            </a:r>
            <a:r>
              <a:rPr lang="en-GB" sz="1800" dirty="0">
                <a:solidFill>
                  <a:schemeClr val="bg1"/>
                </a:solidFill>
              </a:rPr>
              <a:t> because they can contribute with both bat and ball. </a:t>
            </a:r>
          </a:p>
          <a:p>
            <a:pPr lvl="0"/>
            <a:r>
              <a:rPr lang="en-GB" sz="1800" dirty="0">
                <a:solidFill>
                  <a:schemeClr val="bg1"/>
                </a:solidFill>
              </a:rPr>
              <a:t>RA Jadeja and NLTC Perera bring versatility to the squad, which can help the team maintain balance. </a:t>
            </a:r>
          </a:p>
          <a:p>
            <a:pPr lvl="0"/>
            <a:r>
              <a:rPr lang="en-GB" sz="1800" dirty="0">
                <a:solidFill>
                  <a:schemeClr val="bg1"/>
                </a:solidFill>
              </a:rPr>
              <a:t>A Mishra can add value mainly through his</a:t>
            </a:r>
            <a:r>
              <a:rPr lang="en-GB" sz="1800" b="1" dirty="0">
                <a:solidFill>
                  <a:schemeClr val="bg1"/>
                </a:solidFill>
              </a:rPr>
              <a:t> bowling contribution</a:t>
            </a:r>
            <a:r>
              <a:rPr lang="en-GB" sz="1800" dirty="0">
                <a:solidFill>
                  <a:schemeClr val="bg1"/>
                </a:solidFill>
              </a:rPr>
              <a:t>, especially when the team needs wickets.</a:t>
            </a:r>
          </a:p>
        </p:txBody>
      </p:sp>
      <p:sp>
        <p:nvSpPr>
          <p:cNvPr id="6" name="TextBox 5">
            <a:extLst>
              <a:ext uri="{FF2B5EF4-FFF2-40B4-BE49-F238E27FC236}">
                <a16:creationId xmlns:a16="http://schemas.microsoft.com/office/drawing/2014/main" id="{ED7BF3F9-F7C9-6A16-DEF0-929BA189A7CA}"/>
              </a:ext>
            </a:extLst>
          </p:cNvPr>
          <p:cNvSpPr txBox="1"/>
          <p:nvPr/>
        </p:nvSpPr>
        <p:spPr>
          <a:xfrm>
            <a:off x="1357132" y="83282"/>
            <a:ext cx="6209818" cy="1354217"/>
          </a:xfrm>
          <a:prstGeom prst="rect">
            <a:avLst/>
          </a:prstGeom>
          <a:noFill/>
        </p:spPr>
        <p:txBody>
          <a:bodyPr wrap="square">
            <a:spAutoFit/>
          </a:bodyPr>
          <a:lstStyle/>
          <a:p>
            <a:r>
              <a:rPr lang="en-GB" sz="4100" b="1" dirty="0">
                <a:solidFill>
                  <a:schemeClr val="bg1"/>
                </a:solidFill>
              </a:rPr>
              <a:t>Top Players Recommended for RCB</a:t>
            </a:r>
            <a:endParaRPr lang="en-IN" dirty="0">
              <a:solidFill>
                <a:schemeClr val="bg1"/>
              </a:solidFill>
            </a:endParaRPr>
          </a:p>
        </p:txBody>
      </p:sp>
      <p:graphicFrame>
        <p:nvGraphicFramePr>
          <p:cNvPr id="8" name="Chart 7">
            <a:extLst>
              <a:ext uri="{FF2B5EF4-FFF2-40B4-BE49-F238E27FC236}">
                <a16:creationId xmlns:a16="http://schemas.microsoft.com/office/drawing/2014/main" id="{6B65C8E0-4EAA-530A-B300-64151D8E05D4}"/>
              </a:ext>
            </a:extLst>
          </p:cNvPr>
          <p:cNvGraphicFramePr>
            <a:graphicFrameLocks/>
          </p:cNvGraphicFramePr>
          <p:nvPr>
            <p:extLst>
              <p:ext uri="{D42A27DB-BD31-4B8C-83A1-F6EECF244321}">
                <p14:modId xmlns:p14="http://schemas.microsoft.com/office/powerpoint/2010/main" val="1644381761"/>
              </p:ext>
            </p:extLst>
          </p:nvPr>
        </p:nvGraphicFramePr>
        <p:xfrm>
          <a:off x="6096000" y="1024664"/>
          <a:ext cx="5004122" cy="551654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064186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15A32-213A-458A-AF2D-D4DCEFCDD48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DF99862-F629-BFC8-9101-53FCD3473DDD}"/>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7503426D-2ECC-183A-0709-B6F5B1EBA0DE}"/>
              </a:ext>
            </a:extLst>
          </p:cNvPr>
          <p:cNvSpPr txBox="1"/>
          <p:nvPr/>
        </p:nvSpPr>
        <p:spPr>
          <a:xfrm>
            <a:off x="337458" y="1274019"/>
            <a:ext cx="3559628" cy="461665"/>
          </a:xfrm>
          <a:prstGeom prst="rect">
            <a:avLst/>
          </a:prstGeom>
          <a:noFill/>
        </p:spPr>
        <p:txBody>
          <a:bodyPr wrap="square">
            <a:spAutoFit/>
          </a:bodyPr>
          <a:lstStyle/>
          <a:p>
            <a:r>
              <a:rPr lang="en-GB" sz="2400" b="1" dirty="0">
                <a:solidFill>
                  <a:schemeClr val="bg1"/>
                </a:solidFill>
              </a:rPr>
              <a:t>Top Players by Total Runs</a:t>
            </a:r>
            <a:endParaRPr lang="en-IN" sz="2400" dirty="0">
              <a:solidFill>
                <a:schemeClr val="bg1"/>
              </a:solidFill>
            </a:endParaRPr>
          </a:p>
        </p:txBody>
      </p:sp>
      <p:sp>
        <p:nvSpPr>
          <p:cNvPr id="6" name="TextBox 5">
            <a:extLst>
              <a:ext uri="{FF2B5EF4-FFF2-40B4-BE49-F238E27FC236}">
                <a16:creationId xmlns:a16="http://schemas.microsoft.com/office/drawing/2014/main" id="{1C341035-E76E-7254-E054-12066557D035}"/>
              </a:ext>
            </a:extLst>
          </p:cNvPr>
          <p:cNvSpPr txBox="1"/>
          <p:nvPr/>
        </p:nvSpPr>
        <p:spPr>
          <a:xfrm>
            <a:off x="337458" y="1859339"/>
            <a:ext cx="4974771" cy="4247317"/>
          </a:xfrm>
          <a:prstGeom prst="rect">
            <a:avLst/>
          </a:prstGeom>
          <a:noFill/>
        </p:spPr>
        <p:txBody>
          <a:bodyPr wrap="square">
            <a:spAutoFit/>
          </a:bodyPr>
          <a:lstStyle/>
          <a:p>
            <a:r>
              <a:rPr lang="en-GB" sz="1800" b="1" dirty="0">
                <a:solidFill>
                  <a:schemeClr val="bg1"/>
                </a:solidFill>
              </a:rPr>
              <a:t>Insights:- </a:t>
            </a:r>
            <a:r>
              <a:rPr lang="en-GB" sz="1800" dirty="0">
                <a:solidFill>
                  <a:schemeClr val="bg1"/>
                </a:solidFill>
              </a:rPr>
              <a:t>I would not select a player based on one parameter, A combination of batting, bowling, consistency and versatility gives a better picture of a player's actual value to the team.</a:t>
            </a:r>
          </a:p>
          <a:p>
            <a:pPr lvl="0"/>
            <a:r>
              <a:rPr lang="en-GB" sz="1800" dirty="0">
                <a:solidFill>
                  <a:schemeClr val="bg1"/>
                </a:solidFill>
              </a:rPr>
              <a:t>I would not select a player based only on the number of runs,</a:t>
            </a:r>
            <a:r>
              <a:rPr lang="en-GB" sz="1800" b="1" dirty="0">
                <a:solidFill>
                  <a:schemeClr val="bg1"/>
                </a:solidFill>
              </a:rPr>
              <a:t> </a:t>
            </a:r>
            <a:r>
              <a:rPr lang="en-GB" sz="1800" dirty="0">
                <a:solidFill>
                  <a:schemeClr val="bg1"/>
                </a:solidFill>
              </a:rPr>
              <a:t>Runs are important, but they do not tell the complete story. </a:t>
            </a:r>
          </a:p>
          <a:p>
            <a:pPr lvl="0"/>
            <a:r>
              <a:rPr lang="en-GB" sz="1800" dirty="0">
                <a:solidFill>
                  <a:schemeClr val="bg1"/>
                </a:solidFill>
              </a:rPr>
              <a:t>For batsmen, I would focus on </a:t>
            </a:r>
            <a:r>
              <a:rPr lang="en-GB" sz="1800" b="1" dirty="0">
                <a:solidFill>
                  <a:schemeClr val="bg1"/>
                </a:solidFill>
              </a:rPr>
              <a:t>runs, batting average and strike rate</a:t>
            </a:r>
            <a:r>
              <a:rPr lang="en-GB" sz="1800" dirty="0">
                <a:solidFill>
                  <a:schemeClr val="bg1"/>
                </a:solidFill>
              </a:rPr>
              <a:t> to understand consistency and scoring ability. </a:t>
            </a:r>
          </a:p>
          <a:p>
            <a:pPr lvl="0"/>
            <a:r>
              <a:rPr lang="en-GB" sz="1800" dirty="0">
                <a:solidFill>
                  <a:schemeClr val="bg1"/>
                </a:solidFill>
              </a:rPr>
              <a:t>For bowlers, </a:t>
            </a:r>
            <a:r>
              <a:rPr lang="en-GB" sz="1800" b="1" dirty="0">
                <a:solidFill>
                  <a:schemeClr val="bg1"/>
                </a:solidFill>
              </a:rPr>
              <a:t>wickets, economy rate and bowling average</a:t>
            </a:r>
            <a:r>
              <a:rPr lang="en-GB" sz="1800" dirty="0">
                <a:solidFill>
                  <a:schemeClr val="bg1"/>
                </a:solidFill>
              </a:rPr>
              <a:t> are important to understand their effectiveness. </a:t>
            </a:r>
          </a:p>
          <a:p>
            <a:pPr lvl="0"/>
            <a:r>
              <a:rPr lang="en-GB" sz="1800" dirty="0">
                <a:solidFill>
                  <a:schemeClr val="bg1"/>
                </a:solidFill>
              </a:rPr>
              <a:t>For all-rounders, I would look at their </a:t>
            </a:r>
            <a:r>
              <a:rPr lang="en-GB" sz="1800" b="1" dirty="0">
                <a:solidFill>
                  <a:schemeClr val="bg1"/>
                </a:solidFill>
              </a:rPr>
              <a:t>contribution with both bat and ball</a:t>
            </a:r>
            <a:r>
              <a:rPr lang="en-GB" sz="1800" dirty="0">
                <a:solidFill>
                  <a:schemeClr val="bg1"/>
                </a:solidFill>
              </a:rPr>
              <a:t>.</a:t>
            </a:r>
          </a:p>
        </p:txBody>
      </p:sp>
      <p:graphicFrame>
        <p:nvGraphicFramePr>
          <p:cNvPr id="8" name="Chart 7">
            <a:extLst>
              <a:ext uri="{FF2B5EF4-FFF2-40B4-BE49-F238E27FC236}">
                <a16:creationId xmlns:a16="http://schemas.microsoft.com/office/drawing/2014/main" id="{997E5662-F67A-E000-9BF0-978BC7160F5D}"/>
              </a:ext>
            </a:extLst>
          </p:cNvPr>
          <p:cNvGraphicFramePr>
            <a:graphicFrameLocks/>
          </p:cNvGraphicFramePr>
          <p:nvPr>
            <p:extLst>
              <p:ext uri="{D42A27DB-BD31-4B8C-83A1-F6EECF244321}">
                <p14:modId xmlns:p14="http://schemas.microsoft.com/office/powerpoint/2010/main" val="3986042145"/>
              </p:ext>
            </p:extLst>
          </p:nvPr>
        </p:nvGraphicFramePr>
        <p:xfrm>
          <a:off x="5963264" y="1735684"/>
          <a:ext cx="5401422" cy="440210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54882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33340-4CDA-4ED0-E107-2639466DAD9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06137BD-6018-D778-CA3A-7F9FCE4C5154}"/>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B665151F-D8A6-D403-2945-FE8E25A3A18B}"/>
              </a:ext>
            </a:extLst>
          </p:cNvPr>
          <p:cNvSpPr txBox="1"/>
          <p:nvPr/>
        </p:nvSpPr>
        <p:spPr>
          <a:xfrm>
            <a:off x="1148443" y="2600665"/>
            <a:ext cx="9895113" cy="2585323"/>
          </a:xfrm>
          <a:prstGeom prst="rect">
            <a:avLst/>
          </a:prstGeom>
          <a:noFill/>
        </p:spPr>
        <p:txBody>
          <a:bodyPr wrap="square">
            <a:spAutoFit/>
          </a:bodyPr>
          <a:lstStyle/>
          <a:p>
            <a:r>
              <a:rPr lang="en-GB" dirty="0">
                <a:solidFill>
                  <a:schemeClr val="bg1"/>
                </a:solidFill>
              </a:rPr>
              <a:t>The project also helped me understand that </a:t>
            </a:r>
            <a:r>
              <a:rPr lang="en-GB" b="1" dirty="0">
                <a:solidFill>
                  <a:schemeClr val="bg1"/>
                </a:solidFill>
              </a:rPr>
              <a:t>good individual performances do not always guarantee a trophy</a:t>
            </a:r>
            <a:r>
              <a:rPr lang="en-GB" dirty="0">
                <a:solidFill>
                  <a:schemeClr val="bg1"/>
                </a:solidFill>
              </a:rPr>
              <a:t>. RCB's performance should be </a:t>
            </a:r>
            <a:r>
              <a:rPr lang="en-GB" dirty="0" err="1">
                <a:solidFill>
                  <a:schemeClr val="bg1"/>
                </a:solidFill>
              </a:rPr>
              <a:t>analyzed</a:t>
            </a:r>
            <a:r>
              <a:rPr lang="en-GB" dirty="0">
                <a:solidFill>
                  <a:schemeClr val="bg1"/>
                </a:solidFill>
              </a:rPr>
              <a:t> season by season, including consistency and performance in important matches. If a team performs well in the league but struggles in crucial matches, factors such as team balance, batting, bowling, and all-round performance need to be examined.</a:t>
            </a:r>
          </a:p>
          <a:p>
            <a:r>
              <a:rPr lang="en-GB" dirty="0">
                <a:solidFill>
                  <a:schemeClr val="bg1"/>
                </a:solidFill>
              </a:rPr>
              <a:t>If I had not been given the objective and subjective questions, I would start by </a:t>
            </a:r>
            <a:r>
              <a:rPr lang="en-GB" b="1" dirty="0">
                <a:solidFill>
                  <a:schemeClr val="bg1"/>
                </a:solidFill>
              </a:rPr>
              <a:t>understanding the database first</a:t>
            </a:r>
            <a:r>
              <a:rPr lang="en-GB" dirty="0">
                <a:solidFill>
                  <a:schemeClr val="bg1"/>
                </a:solidFill>
              </a:rPr>
              <a:t>. I would identify the important tables and columns, calculate basic KPIs such as matches, wins, losses, runs, wickets, and win percentage, and then look for unusual or interesting patterns. From those patterns, I would create my own questions and investigate them using SQL and visualizations. </a:t>
            </a:r>
          </a:p>
        </p:txBody>
      </p:sp>
      <p:sp>
        <p:nvSpPr>
          <p:cNvPr id="6" name="TextBox 5">
            <a:extLst>
              <a:ext uri="{FF2B5EF4-FFF2-40B4-BE49-F238E27FC236}">
                <a16:creationId xmlns:a16="http://schemas.microsoft.com/office/drawing/2014/main" id="{F481363D-1C74-B00C-34FC-6BAC39914F3A}"/>
              </a:ext>
            </a:extLst>
          </p:cNvPr>
          <p:cNvSpPr txBox="1"/>
          <p:nvPr/>
        </p:nvSpPr>
        <p:spPr>
          <a:xfrm>
            <a:off x="4147458" y="1444078"/>
            <a:ext cx="2906485" cy="769441"/>
          </a:xfrm>
          <a:prstGeom prst="rect">
            <a:avLst/>
          </a:prstGeom>
          <a:noFill/>
        </p:spPr>
        <p:txBody>
          <a:bodyPr wrap="square">
            <a:spAutoFit/>
          </a:bodyPr>
          <a:lstStyle/>
          <a:p>
            <a:r>
              <a:rPr lang="en-GB" sz="4400" b="1" dirty="0">
                <a:solidFill>
                  <a:schemeClr val="bg1"/>
                </a:solidFill>
              </a:rPr>
              <a:t>Conclusion</a:t>
            </a:r>
            <a:endParaRPr lang="en-IN" b="1" dirty="0">
              <a:solidFill>
                <a:schemeClr val="bg1"/>
              </a:solidFill>
            </a:endParaRPr>
          </a:p>
        </p:txBody>
      </p:sp>
    </p:spTree>
    <p:extLst>
      <p:ext uri="{BB962C8B-B14F-4D97-AF65-F5344CB8AC3E}">
        <p14:creationId xmlns:p14="http://schemas.microsoft.com/office/powerpoint/2010/main" val="1258073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EFC89-6B13-ED5F-014B-B056E581256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8D67993-34A4-6281-2F5D-17DDDEEB2647}"/>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9801A13F-10D4-BF68-9C52-671C6BC8BB7C}"/>
              </a:ext>
            </a:extLst>
          </p:cNvPr>
          <p:cNvSpPr txBox="1"/>
          <p:nvPr/>
        </p:nvSpPr>
        <p:spPr>
          <a:xfrm>
            <a:off x="1421176" y="1860261"/>
            <a:ext cx="9705860" cy="3416320"/>
          </a:xfrm>
          <a:prstGeom prst="rect">
            <a:avLst/>
          </a:prstGeom>
          <a:noFill/>
        </p:spPr>
        <p:txBody>
          <a:bodyPr wrap="square">
            <a:spAutoFit/>
          </a:bodyPr>
          <a:lstStyle/>
          <a:p>
            <a:r>
              <a:rPr lang="en-GB" dirty="0">
                <a:solidFill>
                  <a:schemeClr val="bg1"/>
                </a:solidFill>
              </a:rPr>
              <a:t>If I were managing RCB, my main focus would be to build a balanced and consistent team rather than simply collecting star players. I would use data to identify weaknesses, select players according to team requirements, prepare venue-specific strategies, and focus strongly on performing in pressure situations. This approach can help RCB turn individual talent into stronger overall team performance.</a:t>
            </a:r>
            <a:endParaRPr lang="en-GB" b="1" dirty="0">
              <a:solidFill>
                <a:schemeClr val="bg1"/>
              </a:solidFill>
            </a:endParaRPr>
          </a:p>
          <a:p>
            <a:r>
              <a:rPr lang="en-GB" dirty="0">
                <a:solidFill>
                  <a:schemeClr val="bg1"/>
                </a:solidFill>
              </a:rPr>
              <a:t>Select players based on overall performance, not only runs or wickets. Batting average, strike rate, economy rate, bowling average, consistency, and role should all be considered.</a:t>
            </a:r>
          </a:p>
          <a:p>
            <a:r>
              <a:rPr lang="en-GB" dirty="0">
                <a:solidFill>
                  <a:schemeClr val="bg1"/>
                </a:solidFill>
              </a:rPr>
              <a:t>Players who can contribute with both bat and ball give the captain more options and help the team handle different match situations.</a:t>
            </a:r>
          </a:p>
          <a:p>
            <a:r>
              <a:rPr lang="en-GB" dirty="0">
                <a:solidFill>
                  <a:schemeClr val="bg1"/>
                </a:solidFill>
              </a:rPr>
              <a:t>RCB should consider venue history, pitch conditions, dew, weather, and team strengths before deciding whether to bat or field.</a:t>
            </a:r>
          </a:p>
          <a:p>
            <a:r>
              <a:rPr lang="en-GB" dirty="0">
                <a:solidFill>
                  <a:schemeClr val="bg1"/>
                </a:solidFill>
              </a:rPr>
              <a:t>RCB should maintain a proper combination of batsmen, bowlers, all-rounders, and match-winning players instead of spending too much on one category.</a:t>
            </a:r>
          </a:p>
        </p:txBody>
      </p:sp>
      <p:sp>
        <p:nvSpPr>
          <p:cNvPr id="6" name="TextBox 5">
            <a:extLst>
              <a:ext uri="{FF2B5EF4-FFF2-40B4-BE49-F238E27FC236}">
                <a16:creationId xmlns:a16="http://schemas.microsoft.com/office/drawing/2014/main" id="{8A3710C2-5F62-8C71-4FBD-5311532C7A93}"/>
              </a:ext>
            </a:extLst>
          </p:cNvPr>
          <p:cNvSpPr txBox="1"/>
          <p:nvPr/>
        </p:nvSpPr>
        <p:spPr>
          <a:xfrm>
            <a:off x="2685362" y="811978"/>
            <a:ext cx="6208004" cy="769441"/>
          </a:xfrm>
          <a:prstGeom prst="rect">
            <a:avLst/>
          </a:prstGeom>
          <a:noFill/>
        </p:spPr>
        <p:txBody>
          <a:bodyPr wrap="square">
            <a:spAutoFit/>
          </a:bodyPr>
          <a:lstStyle/>
          <a:p>
            <a:r>
              <a:rPr lang="en-GB" sz="4400" b="1" dirty="0">
                <a:solidFill>
                  <a:schemeClr val="bg1"/>
                </a:solidFill>
              </a:rPr>
              <a:t>Final Recommendation</a:t>
            </a:r>
            <a:endParaRPr lang="en-IN" dirty="0">
              <a:solidFill>
                <a:schemeClr val="bg1"/>
              </a:solidFill>
            </a:endParaRPr>
          </a:p>
        </p:txBody>
      </p:sp>
    </p:spTree>
    <p:extLst>
      <p:ext uri="{BB962C8B-B14F-4D97-AF65-F5344CB8AC3E}">
        <p14:creationId xmlns:p14="http://schemas.microsoft.com/office/powerpoint/2010/main" val="40176005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TotalTime>
  <Words>2138</Words>
  <Application>Microsoft Office PowerPoint</Application>
  <PresentationFormat>Widescreen</PresentationFormat>
  <Paragraphs>165</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Bhuvan p</dc:creator>
  <cp:lastModifiedBy>Bhuvan p</cp:lastModifiedBy>
  <cp:revision>4</cp:revision>
  <dcterms:created xsi:type="dcterms:W3CDTF">2026-09-05T06:18:55Z</dcterms:created>
  <dcterms:modified xsi:type="dcterms:W3CDTF">2026-09-08T06:57:10Z</dcterms:modified>
</cp:coreProperties>
</file>